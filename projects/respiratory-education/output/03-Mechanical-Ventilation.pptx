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Mechanical ventilation is a core skill for respiratory therapists. This presentation covers essential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Indications for mechanical ventilation include respiratory failure, airway protection, and perioperative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ventilator components is essential for troubleshooting and proper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Ventilator modes are classified by what variable is controlled: volume, pressure, or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A/C mode ensures every breath delivers the set volume. It's commonly used for patients requiring full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SIMV allows spontaneous breathing between mandatory breaths. Its benefits over A/C are not well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support is comfortable for patients and commonly used for weaning from mechanical ventilation.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modes combine benefits of pressure and volume control. APRV is useful for refractory hypoxemia.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Lung-protective ventilation reduces ventilator-induced lung injury. The ARDSNet protocol is the standard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initial settings provide a starting point. Always adjust based on patient response and ABG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Ventilator graphics provide valuable information about patient-ventilator interaction and lung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Recognizing waveform patterns helps identify patient-ventilator asynchrony and response to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Asynchrony increases work of breathing and patient discomfort. Identifying the type guides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check the patient first when alarms sound. Systematic troubleshooting resolves most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pressure alarms may indicate a critical disconnection. Respond immediately to check the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Auto-PEEP increases work of breathing and can cause hemodynamic compromise. It's common in obstructive diseases.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SBTs identify patients ready for extubation. Most patients who fail do so within the first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Weaning parameters help predict success but should not replace clinical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Proper preparation and technique reduce extubation failure. Monitor closely for signs of upper airway obstruction.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Prophylactic NIV may prevent reintubation in high-risk patients. Early intervention is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patient shows signs of patient-ventilator asynchrony post-surgery.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pain, sedation, and ventilator settings can improve comfort and synchrony.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patient with ARDS has high plateau pressure and hypoxemia despite high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ARDS, lung-protective ventilation is essential. Consider adjunctive therapies for refractory hypoxemia.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Mechanical ventilation requires balancing multiple factors. Always prioritize lung protection and patient comfort.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ARDSNet trial established lung-protective ventilation as the standard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Mechanical Ventilation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Guide to Ventilator Management</a:t>
            </a:r>
          </a:p>
          <a:p/>
          <a:p>
            <a:r>
              <a:t>Presenter: [Name], RRT</a:t>
            </a:r>
          </a:p>
          <a:p>
            <a:r>
              <a:t>Date: [Date]</a:t>
            </a:r>
          </a:p>
          <a:p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session, participants will be able to:</a:t>
            </a:r>
          </a:p>
          <a:p>
            <a:pPr lvl="1">
              <a:defRPr sz="1600"/>
            </a:pPr>
            <a:r>
              <a:t>Describe the components of a mechanical ventilator and breathing circuit</a:t>
            </a:r>
          </a:p>
          <a:p>
            <a:pPr lvl="1">
              <a:defRPr sz="1600"/>
            </a:pPr>
            <a:r>
              <a:t>Select appropriate ventilator modes based on patient condition</a:t>
            </a:r>
          </a:p>
          <a:p>
            <a:pPr lvl="1">
              <a:defRPr sz="1600"/>
            </a:pPr>
            <a:r>
              <a:t>Apply lung-protective ventilation strategies</a:t>
            </a:r>
          </a:p>
          <a:p>
            <a:pPr lvl="1">
              <a:defRPr sz="1600"/>
            </a:pPr>
            <a:r>
              <a:t>Interpret ventilator graphics and waveforms</a:t>
            </a:r>
          </a:p>
          <a:p>
            <a:pPr lvl="1">
              <a:defRPr sz="1600"/>
            </a:pPr>
            <a:r>
              <a:t>Troubleshoot common ventilator alarms and patient-ventilator asynchrony</a:t>
            </a:r>
          </a:p>
          <a:p>
            <a:pPr lvl="1">
              <a:defRPr sz="1600"/>
            </a:pPr>
            <a:r>
              <a:t>Develop and implement ventilator weaning protocols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Indications for Mechanical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Primary Indications: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Apnea or Respiratory Arrest</a:t>
            </a:r>
          </a:p>
          <a:p>
            <a:pPr lvl="1">
              <a:defRPr sz="1600"/>
            </a:pPr>
            <a:r>
              <a:t>No spontaneous breathing</a:t>
            </a:r>
          </a:p>
          <a:p>
            <a:pPr lvl="1">
              <a:defRPr sz="1600"/>
            </a:pPr>
            <a:r>
              <a:t>Immediate intervention required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Acute Respiratory Failure</a:t>
            </a:r>
          </a:p>
          <a:p>
            <a:pPr lvl="1">
              <a:defRPr sz="1600"/>
            </a:pPr>
            <a:r>
              <a:t>Hypoxemic: PaO2 &lt;60 mmHg on high FIO2</a:t>
            </a:r>
          </a:p>
          <a:p>
            <a:pPr lvl="1">
              <a:defRPr sz="1600"/>
            </a:pPr>
            <a:r>
              <a:t>Hypercapnic: pH &lt;7.30 with elevated PaCO2</a:t>
            </a:r>
          </a:p>
          <a:p>
            <a:pPr lvl="1">
              <a:defRPr sz="1600"/>
            </a:pPr>
            <a:r>
              <a:t>Increased work of breathing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Airway Protection</a:t>
            </a:r>
          </a:p>
          <a:p>
            <a:pPr lvl="1">
              <a:defRPr sz="1600"/>
            </a:pPr>
            <a:r>
              <a:t>Altered mental status (GCS ≤8)</a:t>
            </a:r>
          </a:p>
          <a:p>
            <a:pPr lvl="1">
              <a:defRPr sz="1600"/>
            </a:pPr>
            <a:r>
              <a:t>Inability to protect airway</a:t>
            </a:r>
          </a:p>
          <a:p>
            <a:pPr lvl="1">
              <a:defRPr sz="1600"/>
            </a:pPr>
            <a:r>
              <a:t>Risk of aspiration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Prophylactic/Perioperative</a:t>
            </a:r>
          </a:p>
          <a:p>
            <a:pPr lvl="1">
              <a:defRPr sz="1600"/>
            </a:pPr>
            <a:r>
              <a:t>Major surgery</a:t>
            </a:r>
          </a:p>
          <a:p>
            <a:pPr lvl="1">
              <a:defRPr sz="1600"/>
            </a:pPr>
            <a:r>
              <a:t>Hemodynamic instability</a:t>
            </a:r>
          </a:p>
          <a:p>
            <a:pPr lvl="1">
              <a:defRPr sz="1600"/>
            </a:pPr>
            <a:r>
              <a:t>Severe metabolic acidosis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The Mechanical Ventilator System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Control System:</a:t>
            </a:r>
          </a:p>
          <a:p>
            <a:pPr lvl="1">
              <a:defRPr sz="1600"/>
            </a:pPr>
            <a:r>
              <a:t>Microprocessor control</a:t>
            </a:r>
          </a:p>
          <a:p>
            <a:pPr lvl="1">
              <a:defRPr sz="1600"/>
            </a:pPr>
            <a:r>
              <a:t>User interface</a:t>
            </a:r>
          </a:p>
          <a:p>
            <a:pPr lvl="1">
              <a:defRPr sz="1600"/>
            </a:pPr>
            <a:r>
              <a:t>Monitoring displays</a:t>
            </a:r>
          </a:p>
          <a:p>
            <a:pPr lvl="1">
              <a:defRPr sz="1600"/>
            </a:pPr>
            <a:r>
              <a:t>Alarm systems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Pneumatic System:</a:t>
            </a:r>
          </a:p>
          <a:p>
            <a:pPr lvl="1">
              <a:defRPr sz="1600"/>
            </a:pPr>
            <a:r>
              <a:t>Gas source (wall oxygen, medical air)</a:t>
            </a:r>
          </a:p>
          <a:p>
            <a:pPr lvl="1">
              <a:defRPr sz="1600"/>
            </a:pPr>
            <a:r>
              <a:t>Pressure regulators</a:t>
            </a:r>
          </a:p>
          <a:p>
            <a:pPr lvl="1">
              <a:defRPr sz="1600"/>
            </a:pPr>
            <a:r>
              <a:t>Flow controllers</a:t>
            </a:r>
          </a:p>
          <a:p>
            <a:pPr lvl="1">
              <a:defRPr sz="1600"/>
            </a:pPr>
            <a:r>
              <a:t>Valves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Breathing Circuit:</a:t>
            </a:r>
          </a:p>
          <a:p>
            <a:pPr lvl="1">
              <a:defRPr sz="1600"/>
            </a:pPr>
            <a:r>
              <a:t>Inspiratory limb</a:t>
            </a:r>
          </a:p>
          <a:p>
            <a:pPr lvl="1">
              <a:defRPr sz="1600"/>
            </a:pPr>
            <a:r>
              <a:t>Expiratory limb</a:t>
            </a:r>
          </a:p>
          <a:p>
            <a:pPr lvl="1">
              <a:defRPr sz="1600"/>
            </a:pPr>
            <a:r>
              <a:t>Y-connector</a:t>
            </a:r>
          </a:p>
          <a:p>
            <a:pPr lvl="1">
              <a:defRPr sz="1600"/>
            </a:pPr>
            <a:r>
              <a:t>Humidifier</a:t>
            </a:r>
          </a:p>
          <a:p>
            <a:pPr lvl="1">
              <a:defRPr sz="1600"/>
            </a:pPr>
            <a:r>
              <a:t>HME or heated humidifier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Patient Interface:</a:t>
            </a:r>
          </a:p>
          <a:p>
            <a:pPr lvl="1">
              <a:defRPr sz="1600"/>
            </a:pPr>
            <a:r>
              <a:t>Endotracheal tube</a:t>
            </a:r>
          </a:p>
          <a:p>
            <a:pPr lvl="1">
              <a:defRPr sz="1600"/>
            </a:pPr>
            <a:r>
              <a:t>Tracheostomy tube</a:t>
            </a:r>
          </a:p>
          <a:p>
            <a:pPr lvl="1">
              <a:defRPr sz="1600"/>
            </a:pPr>
            <a:r>
              <a:t>Mask (for NIV)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Modes: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Classification by Control Variable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Volume Control (VC)</a:t>
            </a:r>
          </a:p>
          <a:p>
            <a:pPr lvl="1">
              <a:defRPr sz="1600"/>
            </a:pPr>
            <a:r>
              <a:t>Delivers set tidal volume</a:t>
            </a:r>
          </a:p>
          <a:p>
            <a:pPr lvl="1">
              <a:defRPr sz="1600"/>
            </a:pPr>
            <a:r>
              <a:t>Pressure varies with compliance/resistance</a:t>
            </a:r>
          </a:p>
          <a:p>
            <a:pPr lvl="1">
              <a:defRPr sz="1600"/>
            </a:pPr>
            <a:r>
              <a:t>Guaranteed minute ventilation</a:t>
            </a:r>
          </a:p>
          <a:p>
            <a:pPr lvl="1">
              <a:defRPr sz="1600"/>
            </a:pPr>
            <a:r>
              <a:t>Examples: VC-AC, VC-SIMV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Pressure Control (PC)</a:t>
            </a:r>
          </a:p>
          <a:p>
            <a:pPr lvl="1">
              <a:defRPr sz="1600"/>
            </a:pPr>
            <a:r>
              <a:t>Delivers set inspiratory pressure</a:t>
            </a:r>
          </a:p>
          <a:p>
            <a:pPr lvl="1">
              <a:defRPr sz="1600"/>
            </a:pPr>
            <a:r>
              <a:t>Volume varies with compliance/resistance</a:t>
            </a:r>
          </a:p>
          <a:p>
            <a:pPr lvl="1">
              <a:defRPr sz="1600"/>
            </a:pPr>
            <a:r>
              <a:t>Decelerating flow pattern</a:t>
            </a:r>
          </a:p>
          <a:p>
            <a:pPr lvl="1">
              <a:defRPr sz="1600"/>
            </a:pPr>
            <a:r>
              <a:t>Examples: PC-AC, PC-SIMV, PRVC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Pressure Support (PS)</a:t>
            </a:r>
          </a:p>
          <a:p>
            <a:pPr lvl="1">
              <a:defRPr sz="1600"/>
            </a:pPr>
            <a:r>
              <a:t>Patient-triggered, pressure-limited</a:t>
            </a:r>
          </a:p>
          <a:p>
            <a:pPr lvl="1">
              <a:defRPr sz="1600"/>
            </a:pPr>
            <a:r>
              <a:t>Flow-cycled</a:t>
            </a:r>
          </a:p>
          <a:p>
            <a:pPr lvl="1">
              <a:defRPr sz="1600"/>
            </a:pPr>
            <a:r>
              <a:t>Used for spontaneous breathing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Modes: Assist/Control (A/C)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Volume Assist/Control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Characteristics:</a:t>
            </a:r>
          </a:p>
          <a:p>
            <a:pPr lvl="1">
              <a:defRPr sz="1600"/>
            </a:pPr>
            <a:r>
              <a:t>All breaths are volume-controlled</a:t>
            </a:r>
          </a:p>
          <a:p>
            <a:pPr lvl="1">
              <a:defRPr sz="1600"/>
            </a:pPr>
            <a:r>
              <a:t>Patient can trigger breaths</a:t>
            </a:r>
          </a:p>
          <a:p>
            <a:pPr lvl="1">
              <a:defRPr sz="1600"/>
            </a:pPr>
            <a:r>
              <a:t>If no trigger, ventilator delivers at set rate</a:t>
            </a:r>
          </a:p>
          <a:p>
            <a:pPr lvl="1">
              <a:defRPr sz="1600"/>
            </a:pPr>
            <a:r>
              <a:t>Every breath has same volume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Settings:</a:t>
            </a:r>
          </a:p>
          <a:p>
            <a:pPr lvl="1">
              <a:defRPr sz="1600"/>
            </a:pPr>
            <a:r>
              <a:t>Tidal volume (VT)</a:t>
            </a:r>
          </a:p>
          <a:p>
            <a:pPr lvl="1">
              <a:defRPr sz="1600"/>
            </a:pPr>
            <a:r>
              <a:t>Respiratory rate (RR)</a:t>
            </a:r>
          </a:p>
          <a:p>
            <a:pPr lvl="1">
              <a:defRPr sz="1600"/>
            </a:pPr>
            <a:r>
              <a:t>FIO2</a:t>
            </a:r>
          </a:p>
          <a:p>
            <a:pPr lvl="1">
              <a:defRPr sz="1600"/>
            </a:pPr>
            <a:r>
              <a:t>PEEP</a:t>
            </a:r>
          </a:p>
          <a:p>
            <a:pPr lvl="1">
              <a:defRPr sz="1600"/>
            </a:pPr>
            <a:r>
              <a:t>Flow rate</a:t>
            </a:r>
          </a:p>
          <a:p>
            <a:pPr lvl="1">
              <a:defRPr sz="1600"/>
            </a:pPr>
            <a:r>
              <a:t>Inspiratory time or I:E ratio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Advantages:</a:t>
            </a:r>
          </a:p>
          <a:p>
            <a:pPr lvl="1">
              <a:defRPr sz="1600"/>
            </a:pPr>
            <a:r>
              <a:t>Guaranteed minute ventilation</a:t>
            </a:r>
          </a:p>
          <a:p>
            <a:pPr lvl="1">
              <a:defRPr sz="1600"/>
            </a:pPr>
            <a:r>
              <a:t>Good for patients with no spontaneous effort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Disadvantages:</a:t>
            </a:r>
          </a:p>
          <a:p>
            <a:pPr lvl="1">
              <a:defRPr sz="1600"/>
            </a:pPr>
            <a:r>
              <a:t>Can cause asynchrony if patient wants different pattern</a:t>
            </a:r>
          </a:p>
          <a:p>
            <a:pPr lvl="1">
              <a:defRPr sz="1600"/>
            </a:pPr>
            <a:r>
              <a:t>Risk of barotrauma if patient fights ventilator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Modes: SIMV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Synchronized Intermittent Mandatory Ventilation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Characteristics:</a:t>
            </a:r>
          </a:p>
          <a:p>
            <a:pPr lvl="1">
              <a:defRPr sz="1600"/>
            </a:pPr>
            <a:r>
              <a:t>Set number of mandatory breaths (volume or pressure)</a:t>
            </a:r>
          </a:p>
          <a:p>
            <a:pPr lvl="1">
              <a:defRPr sz="1600"/>
            </a:pPr>
            <a:r>
              <a:t>Patient can breathe spontaneously between mandatory breaths</a:t>
            </a:r>
          </a:p>
          <a:p>
            <a:pPr lvl="1">
              <a:defRPr sz="1600"/>
            </a:pPr>
            <a:r>
              <a:t>Spontaneous breaths can be unsupported or pressure-supported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Settings:</a:t>
            </a:r>
          </a:p>
          <a:p>
            <a:pPr lvl="1">
              <a:defRPr sz="1600"/>
            </a:pPr>
            <a:r>
              <a:t>Mandatory rate</a:t>
            </a:r>
          </a:p>
          <a:p>
            <a:pPr lvl="1">
              <a:defRPr sz="1600"/>
            </a:pPr>
            <a:r>
              <a:t>Tidal volume (if VC) or pressure (if PC)</a:t>
            </a:r>
          </a:p>
          <a:p>
            <a:pPr lvl="1">
              <a:defRPr sz="1600"/>
            </a:pPr>
            <a:r>
              <a:t>Pressure support for spontaneous breaths</a:t>
            </a:r>
          </a:p>
          <a:p>
            <a:pPr lvl="1">
              <a:defRPr sz="1600"/>
            </a:pPr>
            <a:r>
              <a:t>FIO2, PEEP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Advantages:</a:t>
            </a:r>
          </a:p>
          <a:p>
            <a:pPr lvl="1">
              <a:defRPr sz="1600"/>
            </a:pPr>
            <a:r>
              <a:t>Allows spontaneous breathing</a:t>
            </a:r>
          </a:p>
          <a:p>
            <a:pPr lvl="1">
              <a:defRPr sz="1600"/>
            </a:pPr>
            <a:r>
              <a:t>May reduce sedation needs</a:t>
            </a:r>
          </a:p>
          <a:p>
            <a:pPr lvl="1">
              <a:defRPr sz="1600"/>
            </a:pPr>
            <a:r>
              <a:t>Theoretically prevents respiratory muscle atrophy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Disadvantages:</a:t>
            </a:r>
          </a:p>
          <a:p>
            <a:pPr lvl="1">
              <a:defRPr sz="1600"/>
            </a:pPr>
            <a:r>
              <a:t>Can increase work of breathing</a:t>
            </a:r>
          </a:p>
          <a:p>
            <a:pPr lvl="1">
              <a:defRPr sz="1600"/>
            </a:pPr>
            <a:r>
              <a:t>May prolong weaning</a:t>
            </a:r>
          </a:p>
          <a:p>
            <a:pPr lvl="1">
              <a:defRPr sz="1600"/>
            </a:pPr>
            <a:r>
              <a:t>Not proven superior to A/C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Modes: Pressure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Spontaneous Mode with Support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Characteristics:</a:t>
            </a:r>
          </a:p>
          <a:p>
            <a:pPr lvl="1">
              <a:defRPr sz="1600"/>
            </a:pPr>
            <a:r>
              <a:t>Patient triggers every breath</a:t>
            </a:r>
          </a:p>
          <a:p>
            <a:pPr lvl="1">
              <a:defRPr sz="1600"/>
            </a:pPr>
            <a:r>
              <a:t>Set pressure support level</a:t>
            </a:r>
          </a:p>
          <a:p>
            <a:pPr lvl="1">
              <a:defRPr sz="1600"/>
            </a:pPr>
            <a:r>
              <a:t>Flow-cycled (cycles off when flow drops to % of peak)</a:t>
            </a:r>
          </a:p>
          <a:p>
            <a:pPr lvl="1">
              <a:defRPr sz="1600"/>
            </a:pPr>
            <a:r>
              <a:t>No set rate or tidal volume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Settings:</a:t>
            </a:r>
          </a:p>
          <a:p>
            <a:pPr lvl="1">
              <a:defRPr sz="1600"/>
            </a:pPr>
            <a:r>
              <a:t>Pressure support level (cmH2O)</a:t>
            </a:r>
          </a:p>
          <a:p>
            <a:pPr lvl="1">
              <a:defRPr sz="1600"/>
            </a:pPr>
            <a:r>
              <a:t>PEEP</a:t>
            </a:r>
          </a:p>
          <a:p>
            <a:pPr lvl="1">
              <a:defRPr sz="1600"/>
            </a:pPr>
            <a:r>
              <a:t>FIO2</a:t>
            </a:r>
          </a:p>
          <a:p>
            <a:pPr lvl="1">
              <a:defRPr sz="1600"/>
            </a:pPr>
            <a:r>
              <a:t>Trigger sensitivity</a:t>
            </a:r>
          </a:p>
          <a:p>
            <a:pPr lvl="1">
              <a:defRPr sz="1600"/>
            </a:pPr>
            <a:r>
              <a:t>Flow cycle criteria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Advantages:</a:t>
            </a:r>
          </a:p>
          <a:p>
            <a:pPr lvl="1">
              <a:defRPr sz="1600"/>
            </a:pPr>
            <a:r>
              <a:t>Patient controls rate and tidal volume</a:t>
            </a:r>
          </a:p>
          <a:p>
            <a:pPr lvl="1">
              <a:defRPr sz="1600"/>
            </a:pPr>
            <a:r>
              <a:t>Comfortable for awake patients</a:t>
            </a:r>
          </a:p>
          <a:p>
            <a:pPr lvl="1">
              <a:defRPr sz="1600"/>
            </a:pPr>
            <a:r>
              <a:t>Good for weaning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Disadvantages:</a:t>
            </a:r>
          </a:p>
          <a:p>
            <a:pPr lvl="1">
              <a:defRPr sz="1600"/>
            </a:pPr>
            <a:r>
              <a:t>No guaranteed minute ventilation</a:t>
            </a:r>
          </a:p>
          <a:p>
            <a:pPr lvl="1">
              <a:defRPr sz="1600"/>
            </a:pPr>
            <a:r>
              <a:t>Apnea alarm essential</a:t>
            </a:r>
          </a:p>
          <a:p>
            <a:pPr lvl="1">
              <a:defRPr sz="1600"/>
            </a:pPr>
            <a:r>
              <a:t>Not for patients with weak drive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Modes: Advanced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Pressure Regulated Volume Control (PRVC/VC+)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Characteristics:</a:t>
            </a:r>
          </a:p>
          <a:p>
            <a:pPr lvl="1">
              <a:defRPr sz="1600"/>
            </a:pPr>
            <a:r>
              <a:t>Pressure-controlled breaths</a:t>
            </a:r>
          </a:p>
          <a:p>
            <a:pPr lvl="1">
              <a:defRPr sz="1600"/>
            </a:pPr>
            <a:r>
              <a:t>Volume-targeted</a:t>
            </a:r>
          </a:p>
          <a:p>
            <a:pPr lvl="1">
              <a:defRPr sz="1600"/>
            </a:pPr>
            <a:r>
              <a:t>Automatically adjusts pressure to deliver set volume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Advantages:</a:t>
            </a:r>
          </a:p>
          <a:p>
            <a:pPr lvl="1">
              <a:defRPr sz="1600"/>
            </a:pPr>
            <a:r>
              <a:t>Decelerating flow (better distribution)</a:t>
            </a:r>
          </a:p>
          <a:p>
            <a:pPr lvl="1">
              <a:defRPr sz="1600"/>
            </a:pPr>
            <a:r>
              <a:t>Volume guarantee</a:t>
            </a:r>
          </a:p>
          <a:p>
            <a:pPr lvl="1">
              <a:defRPr sz="1600"/>
            </a:pPr>
            <a:r>
              <a:t>Automatic compliance compensation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Airway Pressure Release Ventilation (APRV)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Characteristics:</a:t>
            </a:r>
          </a:p>
          <a:p>
            <a:pPr lvl="1">
              <a:defRPr sz="1600"/>
            </a:pPr>
            <a:r>
              <a:t>Two pressure levels (Phigh and Plow)</a:t>
            </a:r>
          </a:p>
          <a:p>
            <a:pPr lvl="1">
              <a:defRPr sz="1600"/>
            </a:pPr>
            <a:r>
              <a:t>Spontaneous breathing allowed at both levels</a:t>
            </a:r>
          </a:p>
          <a:p>
            <a:pPr lvl="1">
              <a:defRPr sz="1600"/>
            </a:pPr>
            <a:r>
              <a:t>Time-cycled release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Advantages:</a:t>
            </a:r>
          </a:p>
          <a:p>
            <a:pPr lvl="1">
              <a:defRPr sz="1600"/>
            </a:pPr>
            <a:r>
              <a:t>Good oxygenation</a:t>
            </a:r>
          </a:p>
          <a:p>
            <a:pPr lvl="1">
              <a:defRPr sz="1600"/>
            </a:pPr>
            <a:r>
              <a:t>Allows spontaneous breathing</a:t>
            </a:r>
          </a:p>
          <a:p>
            <a:pPr lvl="1">
              <a:defRPr sz="1600"/>
            </a:pPr>
            <a:r>
              <a:t>Lower peak pressures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Lung-Protective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ARDSNet Protocol Principles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Tidal Volume:</a:t>
            </a:r>
          </a:p>
          <a:p>
            <a:pPr lvl="1">
              <a:defRPr sz="1600"/>
            </a:pPr>
            <a:r>
              <a:t>6 ml/kg ideal body weight</a:t>
            </a:r>
          </a:p>
          <a:p>
            <a:pPr lvl="1">
              <a:defRPr sz="1600"/>
            </a:pPr>
            <a:r>
              <a:t>Range: 4-8 ml/kg</a:t>
            </a:r>
          </a:p>
          <a:p>
            <a:pPr lvl="1">
              <a:defRPr sz="1600"/>
            </a:pPr>
            <a:r>
              <a:t>Calculate IBW:</a:t>
            </a:r>
          </a:p>
          <a:p>
            <a:pPr lvl="1">
              <a:defRPr sz="1600"/>
            </a:pPr>
            <a:r>
              <a:t>Men: 50 + 2.3 × (height in inches - 60)</a:t>
            </a:r>
          </a:p>
          <a:p>
            <a:pPr lvl="1">
              <a:defRPr sz="1600"/>
            </a:pPr>
            <a:r>
              <a:t>Women: 45.5 + 2.3 × (height in inches - 60)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Plateau Pressure:</a:t>
            </a:r>
          </a:p>
          <a:p>
            <a:pPr lvl="1">
              <a:defRPr sz="1600"/>
            </a:pPr>
            <a:r>
              <a:t>Goal: &lt;30 cmH2O</a:t>
            </a:r>
          </a:p>
          <a:p>
            <a:pPr lvl="1">
              <a:defRPr sz="1600"/>
            </a:pPr>
            <a:r>
              <a:t>If &gt;30: decrease VT to minimum 4 ml/kg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PEEP:</a:t>
            </a:r>
          </a:p>
          <a:p>
            <a:pPr lvl="1">
              <a:defRPr sz="1600"/>
            </a:pPr>
            <a:r>
              <a:t>Start at 5 cmH2O</a:t>
            </a:r>
          </a:p>
          <a:p>
            <a:pPr lvl="1">
              <a:defRPr sz="1600"/>
            </a:pPr>
            <a:r>
              <a:t>Titrate using PEEP/FIO2 tables</a:t>
            </a:r>
          </a:p>
          <a:p>
            <a:pPr lvl="1">
              <a:defRPr sz="1600"/>
            </a:pPr>
            <a:r>
              <a:t>Balance oxygenation vs. hemodynamics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Permissive Hypercapnia:</a:t>
            </a:r>
          </a:p>
          <a:p>
            <a:pPr lvl="1">
              <a:defRPr sz="1600"/>
            </a:pPr>
            <a:r>
              <a:t>Accept PaCO2 up to 60 if pH ≥7.25</a:t>
            </a:r>
          </a:p>
          <a:p>
            <a:pPr lvl="1">
              <a:defRPr sz="1600"/>
            </a:pPr>
            <a:r>
              <a:t>Don't increase VT to normalize CO2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Initial Ventilator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Standard Starting Points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Volume A/C Mode:</a:t>
            </a:r>
          </a:p>
          <a:p>
            <a:pPr>
              <a:defRPr sz="1600"/>
            </a:pPr>
            <a:r>
              <a:t>| Parameter | Setting | Notes |</a:t>
            </a:r>
          </a:p>
          <a:p>
            <a:pPr>
              <a:defRPr sz="1600"/>
            </a:pPr>
            <a:r>
              <a:t>|-----------|---------|-------|</a:t>
            </a:r>
          </a:p>
          <a:p>
            <a:pPr>
              <a:defRPr sz="1600"/>
            </a:pPr>
            <a:r>
              <a:t>| VT | 6-8 ml/kg IBW | Use IBW, not actual weight |</a:t>
            </a:r>
          </a:p>
          <a:p>
            <a:pPr>
              <a:defRPr sz="1600"/>
            </a:pPr>
            <a:r>
              <a:t>| Rate | 12-16/min | Adjust for pH/CO2 |</a:t>
            </a:r>
          </a:p>
          <a:p>
            <a:pPr>
              <a:defRPr sz="1600"/>
            </a:pPr>
            <a:r>
              <a:t>| FIO2 | 100% | Titrate down quickly |</a:t>
            </a:r>
          </a:p>
          <a:p>
            <a:pPr>
              <a:defRPr sz="1600"/>
            </a:pPr>
            <a:r>
              <a:t>| PEEP | 5 cmH2O | Minimum to prevent atelectasis |</a:t>
            </a:r>
          </a:p>
          <a:p>
            <a:pPr>
              <a:defRPr sz="1600"/>
            </a:pPr>
            <a:r>
              <a:t>| Flow | 60 L/min | Adequate for most adults |</a:t>
            </a:r>
          </a:p>
          <a:p>
            <a:pPr>
              <a:defRPr sz="1600"/>
            </a:pPr>
            <a:r>
              <a:t>| I:E ratio | 1:2 to 1:3 | Avoid inverse ratio |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Post-Intubation:</a:t>
            </a:r>
          </a:p>
          <a:p>
            <a:pPr lvl="1">
              <a:defRPr sz="1600"/>
            </a:pPr>
            <a:r>
              <a:t>Check bilateral breath sounds</a:t>
            </a:r>
          </a:p>
          <a:p>
            <a:pPr lvl="1">
              <a:defRPr sz="1600"/>
            </a:pPr>
            <a:r>
              <a:t>Verify ET tube position (depth marking)</a:t>
            </a:r>
          </a:p>
          <a:p>
            <a:pPr lvl="1">
              <a:defRPr sz="1600"/>
            </a:pPr>
            <a:r>
              <a:t>Obtain chest X-ray</a:t>
            </a:r>
          </a:p>
          <a:p>
            <a:pPr lvl="1">
              <a:defRPr sz="1600"/>
            </a:pPr>
            <a:r>
              <a:t>Check ABG in 30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Understanding Waveforms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Pressure-Time Waveform:</a:t>
            </a:r>
          </a:p>
          <a:p>
            <a:pPr lvl="1">
              <a:defRPr sz="1600"/>
            </a:pPr>
            <a:r>
              <a:t>Shows pressure changes during breath</a:t>
            </a:r>
          </a:p>
          <a:p>
            <a:pPr lvl="1">
              <a:defRPr sz="1600"/>
            </a:pPr>
            <a:r>
              <a:t>Peak pressure: Total resistance + compliance</a:t>
            </a:r>
          </a:p>
          <a:p>
            <a:pPr lvl="1">
              <a:defRPr sz="1600"/>
            </a:pPr>
            <a:r>
              <a:t>Plateau pressure: Static compliance only</a:t>
            </a:r>
          </a:p>
          <a:p>
            <a:pPr lvl="1">
              <a:defRPr sz="1600"/>
            </a:pPr>
            <a:r>
              <a:t>PEEP: Baseline pressure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Flow-Time Waveform:</a:t>
            </a:r>
          </a:p>
          <a:p>
            <a:pPr lvl="1">
              <a:defRPr sz="1600"/>
            </a:pPr>
            <a:r>
              <a:t>Square wave (constant flow) - volume control</a:t>
            </a:r>
          </a:p>
          <a:p>
            <a:pPr lvl="1">
              <a:defRPr sz="1600"/>
            </a:pPr>
            <a:r>
              <a:t>Decelerating wave - pressure control</a:t>
            </a:r>
          </a:p>
          <a:p>
            <a:pPr lvl="1">
              <a:defRPr sz="1600"/>
            </a:pPr>
            <a:r>
              <a:t>Expiratory flow shows airway obstruction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Volume-Time Waveform:</a:t>
            </a:r>
          </a:p>
          <a:p>
            <a:pPr lvl="1">
              <a:defRPr sz="1600"/>
            </a:pPr>
            <a:r>
              <a:t>Shows volume delivery and exhalation</a:t>
            </a:r>
          </a:p>
          <a:p>
            <a:pPr lvl="1">
              <a:defRPr sz="1600"/>
            </a:pPr>
            <a:r>
              <a:t>Should return to zero</a:t>
            </a:r>
          </a:p>
          <a:p>
            <a:pPr lvl="1">
              <a:defRPr sz="1600"/>
            </a:pPr>
            <a:r>
              <a:t>If not, air trapping present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Graphics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Common Patterns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Normal:</a:t>
            </a:r>
          </a:p>
          <a:p>
            <a:pPr lvl="1">
              <a:defRPr sz="1600"/>
            </a:pPr>
            <a:r>
              <a:t>Smooth, consistent waveforms</a:t>
            </a:r>
          </a:p>
          <a:p>
            <a:pPr lvl="1">
              <a:defRPr sz="1600"/>
            </a:pPr>
            <a:r>
              <a:t>Volume returns to baseline</a:t>
            </a:r>
          </a:p>
          <a:p>
            <a:pPr lvl="1">
              <a:defRPr sz="1600"/>
            </a:pPr>
            <a:r>
              <a:t>Stable pressures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Airway Obstruction:</a:t>
            </a:r>
          </a:p>
          <a:p>
            <a:pPr lvl="1">
              <a:defRPr sz="1600"/>
            </a:pPr>
            <a:r>
              <a:t>Prolonged expiratory flow</a:t>
            </a:r>
          </a:p>
          <a:p>
            <a:pPr lvl="1">
              <a:defRPr sz="1600"/>
            </a:pPr>
            <a:r>
              <a:t>Scalloped expiratory flow waveform</a:t>
            </a:r>
          </a:p>
          <a:p>
            <a:pPr lvl="1">
              <a:defRPr sz="1600"/>
            </a:pPr>
            <a:r>
              <a:t>Auto-PEEP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Asynchrony:</a:t>
            </a:r>
          </a:p>
          <a:p>
            <a:pPr lvl="1">
              <a:defRPr sz="1600"/>
            </a:pPr>
            <a:r>
              <a:t>Pressure waveform notches (triggering issues)</a:t>
            </a:r>
          </a:p>
          <a:p>
            <a:pPr lvl="1">
              <a:defRPr sz="1600"/>
            </a:pPr>
            <a:r>
              <a:t>Flow waveform abnormalities</a:t>
            </a:r>
          </a:p>
          <a:p>
            <a:pPr lvl="1">
              <a:defRPr sz="1600"/>
            </a:pPr>
            <a:r>
              <a:t>Double triggering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Bronchodilator Response:</a:t>
            </a:r>
          </a:p>
          <a:p>
            <a:pPr lvl="1">
              <a:defRPr sz="1600"/>
            </a:pPr>
            <a:r>
              <a:t>Decreased peak pressure</a:t>
            </a:r>
          </a:p>
          <a:p>
            <a:pPr lvl="1">
              <a:defRPr sz="1600"/>
            </a:pPr>
            <a:r>
              <a:t>Improved expiratory flow</a:t>
            </a:r>
          </a:p>
          <a:p>
            <a:pPr lvl="1">
              <a:defRPr sz="1600"/>
            </a:pPr>
            <a:r>
              <a:t>Reduced auto-PEEP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Patient-Ventilator Asynchrony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Types and Solutions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Trigger Asynchrony:</a:t>
            </a:r>
          </a:p>
          <a:p>
            <a:pPr lvl="1">
              <a:defRPr sz="1600"/>
            </a:pPr>
            <a:r>
              <a:t>Problem: Patient effort doesn't trigger breath</a:t>
            </a:r>
          </a:p>
          <a:p>
            <a:pPr lvl="1">
              <a:defRPr sz="1600"/>
            </a:pPr>
            <a:r>
              <a:t>Cause: Insensitive trigger, auto-PEEP</a:t>
            </a:r>
          </a:p>
          <a:p>
            <a:pPr lvl="1">
              <a:defRPr sz="1600"/>
            </a:pPr>
            <a:r>
              <a:t>Solution: Increase sensitivity, reduce auto-PEEP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Flow Asynchrony:</a:t>
            </a:r>
          </a:p>
          <a:p>
            <a:pPr lvl="1">
              <a:defRPr sz="1600"/>
            </a:pPr>
            <a:r>
              <a:t>Problem: Set flow doesn't match patient demand</a:t>
            </a:r>
          </a:p>
          <a:p>
            <a:pPr lvl="1">
              <a:defRPr sz="1600"/>
            </a:pPr>
            <a:r>
              <a:t>Cause: Flow too low for patient's needs</a:t>
            </a:r>
          </a:p>
          <a:p>
            <a:pPr lvl="1">
              <a:defRPr sz="1600"/>
            </a:pPr>
            <a:r>
              <a:t>Solution: Increase flow or switch to pressure control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Cycle Asynchrony:</a:t>
            </a:r>
          </a:p>
          <a:p>
            <a:pPr lvl="1">
              <a:defRPr sz="1600"/>
            </a:pPr>
            <a:r>
              <a:t>Problem: Inspiration ends too early or late</a:t>
            </a:r>
          </a:p>
          <a:p>
            <a:pPr lvl="1">
              <a:defRPr sz="1600"/>
            </a:pPr>
            <a:r>
              <a:t>Cause: Mismatch between neural and mechanical inspiration</a:t>
            </a:r>
          </a:p>
          <a:p>
            <a:pPr lvl="1">
              <a:defRPr sz="1600"/>
            </a:pPr>
            <a:r>
              <a:t>Solution: Adjust flow cycle % or inspiratory time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Double Triggering:</a:t>
            </a:r>
          </a:p>
          <a:p>
            <a:pPr lvl="1">
              <a:defRPr sz="1600"/>
            </a:pPr>
            <a:r>
              <a:t>Problem: Two breaths in rapid succession</a:t>
            </a:r>
          </a:p>
          <a:p>
            <a:pPr lvl="1">
              <a:defRPr sz="1600"/>
            </a:pPr>
            <a:r>
              <a:t>Cause: Insufficient tidal volume, short inspiratory time</a:t>
            </a:r>
          </a:p>
          <a:p>
            <a:pPr lvl="1">
              <a:defRPr sz="1600"/>
            </a:pPr>
            <a:r>
              <a:t>Solution: Increase VT or adjust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Alarms: High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Causes:</a:t>
            </a:r>
          </a:p>
          <a:p>
            <a:pPr lvl="1">
              <a:defRPr sz="1600"/>
            </a:pPr>
            <a:r>
              <a:t>Secretions in airway</a:t>
            </a:r>
          </a:p>
          <a:p>
            <a:pPr lvl="1">
              <a:defRPr sz="1600"/>
            </a:pPr>
            <a:r>
              <a:t>Kinked ETT or circuit</a:t>
            </a:r>
          </a:p>
          <a:p>
            <a:pPr lvl="1">
              <a:defRPr sz="1600"/>
            </a:pPr>
            <a:r>
              <a:t>Bronchospasm</a:t>
            </a:r>
          </a:p>
          <a:p>
            <a:pPr lvl="1">
              <a:defRPr sz="1600"/>
            </a:pPr>
            <a:r>
              <a:t>Decreased lung compliance</a:t>
            </a:r>
          </a:p>
          <a:p>
            <a:pPr lvl="1">
              <a:defRPr sz="1600"/>
            </a:pPr>
            <a:r>
              <a:t>Patient biting ETT</a:t>
            </a:r>
          </a:p>
          <a:p>
            <a:pPr lvl="1">
              <a:defRPr sz="1600"/>
            </a:pPr>
            <a:r>
              <a:t>Water in circuit</a:t>
            </a:r>
          </a:p>
          <a:p>
            <a:pPr lvl="1">
              <a:defRPr sz="1600"/>
            </a:pPr>
            <a:r>
              <a:t>Coughing or fighting ventilator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Response:</a:t>
            </a:r>
          </a:p>
          <a:p>
            <a:pPr lvl="1">
              <a:defRPr sz="1600"/>
            </a:pPr>
            <a:r>
              <a:t>1. Check patient first - look, listen, feel</a:t>
            </a:r>
          </a:p>
          <a:p>
            <a:pPr lvl="1">
              <a:defRPr sz="1600"/>
            </a:pPr>
            <a:r>
              <a:t>2. Suction if indicated</a:t>
            </a:r>
          </a:p>
          <a:p>
            <a:pPr lvl="1">
              <a:defRPr sz="1600"/>
            </a:pPr>
            <a:r>
              <a:t>3. Check circuit for kinks or water</a:t>
            </a:r>
          </a:p>
          <a:p>
            <a:pPr>
              <a:defRPr sz="1600"/>
            </a:pPr>
            <a:r>
              <a:t>4. Auscultate for bronchospasm</a:t>
            </a:r>
          </a:p>
          <a:p>
            <a:pPr>
              <a:defRPr sz="1600"/>
            </a:pPr>
            <a:r>
              <a:t>5. Check ETT position and patency</a:t>
            </a:r>
          </a:p>
          <a:p>
            <a:pPr>
              <a:defRPr sz="1600"/>
            </a:pPr>
            <a:r>
              <a:t>6. Consider sedation if patient-ventilator dyssynchrony</a:t>
            </a:r>
          </a:p>
          <a:p>
            <a:pPr>
              <a:defRPr sz="1600"/>
            </a:pPr>
            <a:r>
              <a:t>7. If unresolved, disconnect and bag manually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Ventilator Alarms: Low Pressure/Volume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Causes:</a:t>
            </a:r>
          </a:p>
          <a:p>
            <a:pPr lvl="1">
              <a:defRPr sz="1600"/>
            </a:pPr>
            <a:r>
              <a:t>Circuit disconnect</a:t>
            </a:r>
          </a:p>
          <a:p>
            <a:pPr lvl="1">
              <a:defRPr sz="1600"/>
            </a:pPr>
            <a:r>
              <a:t>Cuff leak</a:t>
            </a:r>
          </a:p>
          <a:p>
            <a:pPr lvl="1">
              <a:defRPr sz="1600"/>
            </a:pPr>
            <a:r>
              <a:t>Patient self-extubation</a:t>
            </a:r>
          </a:p>
          <a:p>
            <a:pPr lvl="1">
              <a:defRPr sz="1600"/>
            </a:pPr>
            <a:r>
              <a:t>Leak in circuit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Response:</a:t>
            </a:r>
          </a:p>
          <a:p>
            <a:pPr lvl="1">
              <a:defRPr sz="1600"/>
            </a:pPr>
            <a:r>
              <a:t>1. Check patient immediately</a:t>
            </a:r>
          </a:p>
          <a:p>
            <a:pPr lvl="1">
              <a:defRPr sz="1600"/>
            </a:pPr>
            <a:r>
              <a:t>2. Verify ETT position (depth marking)</a:t>
            </a:r>
          </a:p>
          <a:p>
            <a:pPr lvl="1">
              <a:defRPr sz="1600"/>
            </a:pPr>
            <a:r>
              <a:t>3. Check cuff pressure (20-30 cmH2O)</a:t>
            </a:r>
          </a:p>
          <a:p>
            <a:pPr>
              <a:defRPr sz="1600"/>
            </a:pPr>
            <a:r>
              <a:t>4. Check all connections</a:t>
            </a:r>
          </a:p>
          <a:p>
            <a:pPr>
              <a:defRPr sz="1600"/>
            </a:pPr>
            <a:r>
              <a:t>5. Listen for leak around ETT</a:t>
            </a:r>
          </a:p>
          <a:p>
            <a:pPr>
              <a:defRPr sz="1600"/>
            </a:pPr>
            <a:r>
              <a:t>6. If extubated, bag-valve-mask and call for help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Low PEEP/CPAP Alarm:</a:t>
            </a:r>
          </a:p>
          <a:p>
            <a:pPr lvl="1">
              <a:defRPr sz="1600"/>
            </a:pPr>
            <a:r>
              <a:t>Large leak in system</a:t>
            </a:r>
          </a:p>
          <a:p>
            <a:pPr lvl="1">
              <a:defRPr sz="1600"/>
            </a:pPr>
            <a:r>
              <a:t>Circuit disconnect</a:t>
            </a:r>
          </a:p>
          <a:p>
            <a:pPr lvl="1">
              <a:defRPr sz="1600"/>
            </a:pPr>
            <a:r>
              <a:t>Inadequate 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Auto-PEEP (Intrinsic PEEP)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Definition:</a:t>
            </a:r>
          </a:p>
          <a:p>
            <a:pPr>
              <a:defRPr sz="1600"/>
            </a:pPr>
            <a:r>
              <a:t>Positive pressure remaining in alveoli at end-expiration due to incomplete emptying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Causes:</a:t>
            </a:r>
          </a:p>
          <a:p>
            <a:pPr lvl="1">
              <a:defRPr sz="1600"/>
            </a:pPr>
            <a:r>
              <a:t>Airway obstruction (asthma, COPD)</a:t>
            </a:r>
          </a:p>
          <a:p>
            <a:pPr lvl="1">
              <a:defRPr sz="1600"/>
            </a:pPr>
            <a:r>
              <a:t>High minute ventilation</a:t>
            </a:r>
          </a:p>
          <a:p>
            <a:pPr lvl="1">
              <a:defRPr sz="1600"/>
            </a:pPr>
            <a:r>
              <a:t>Short expiratory time</a:t>
            </a:r>
          </a:p>
          <a:p>
            <a:pPr lvl="1">
              <a:defRPr sz="1600"/>
            </a:pPr>
            <a:r>
              <a:t>High respiratory rate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Detection:</a:t>
            </a:r>
          </a:p>
          <a:p>
            <a:pPr lvl="1">
              <a:defRPr sz="1600"/>
            </a:pPr>
            <a:r>
              <a:t>Expiratory flow doesn't return to zero</a:t>
            </a:r>
          </a:p>
          <a:p>
            <a:pPr lvl="1">
              <a:defRPr sz="1600"/>
            </a:pPr>
            <a:r>
              <a:t>End-expiratory port occlusion shows pressure</a:t>
            </a:r>
          </a:p>
          <a:p>
            <a:pPr lvl="1">
              <a:defRPr sz="1600"/>
            </a:pPr>
            <a:r>
              <a:t>Need to trigger against positive pressure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Management:</a:t>
            </a:r>
          </a:p>
          <a:p>
            <a:pPr lvl="1">
              <a:defRPr sz="1600"/>
            </a:pPr>
            <a:r>
              <a:t>Increase expiratory time (decrease rate or inspiratory time)</a:t>
            </a:r>
          </a:p>
          <a:p>
            <a:pPr lvl="1">
              <a:defRPr sz="1600"/>
            </a:pPr>
            <a:r>
              <a:t>Bronchodilators</a:t>
            </a:r>
          </a:p>
          <a:p>
            <a:pPr lvl="1">
              <a:defRPr sz="1600"/>
            </a:pPr>
            <a:r>
              <a:t>Reduce minute ventilation (if appropriate)</a:t>
            </a:r>
          </a:p>
          <a:p>
            <a:pPr lvl="1">
              <a:defRPr sz="1600"/>
            </a:pPr>
            <a:r>
              <a:t>Apply extrinsic PEEP (80% of auto-PEEP)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Weaning from Mechanical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Daily Spontaneous Awakening and Breathing Trials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Readiness Criteria:</a:t>
            </a:r>
          </a:p>
          <a:p>
            <a:pPr lvl="1">
              <a:defRPr sz="1600"/>
            </a:pPr>
            <a:r>
              <a:t>Resolution of acute illness</a:t>
            </a:r>
          </a:p>
          <a:p>
            <a:pPr lvl="1">
              <a:defRPr sz="1600"/>
            </a:pPr>
            <a:r>
              <a:t>Hemodynamic stability (minimal or no vasopressors)</a:t>
            </a:r>
          </a:p>
          <a:p>
            <a:pPr lvl="1">
              <a:defRPr sz="1600"/>
            </a:pPr>
            <a:r>
              <a:t>Oxygenation: PaO2/FIO2 &gt;150-200, PEEP ≤5-8</a:t>
            </a:r>
          </a:p>
          <a:p>
            <a:pPr lvl="1">
              <a:defRPr sz="1600"/>
            </a:pPr>
            <a:r>
              <a:t>Cough and airway reflexes present</a:t>
            </a:r>
          </a:p>
          <a:p>
            <a:pPr lvl="1">
              <a:defRPr sz="1600"/>
            </a:pPr>
            <a:r>
              <a:t>No pending procedures requiring sedation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Spontaneous Breathing Trial (SBT):</a:t>
            </a:r>
          </a:p>
          <a:p>
            <a:pPr lvl="1">
              <a:defRPr sz="1600"/>
            </a:pPr>
            <a:r>
              <a:t>CPAP 5 cmH2O, or</a:t>
            </a:r>
          </a:p>
          <a:p>
            <a:pPr lvl="1">
              <a:defRPr sz="1600"/>
            </a:pPr>
            <a:r>
              <a:t>T-piece, or</a:t>
            </a:r>
          </a:p>
          <a:p>
            <a:pPr lvl="1">
              <a:defRPr sz="1600"/>
            </a:pPr>
            <a:r>
              <a:t>Low pressure support (5-8 cmH2O)</a:t>
            </a:r>
          </a:p>
          <a:p>
            <a:pPr lvl="1">
              <a:defRPr sz="1600"/>
            </a:pPr>
            <a:r>
              <a:t>Duration: 30-120 minutes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SBT Success Criteria:</a:t>
            </a:r>
          </a:p>
          <a:p>
            <a:pPr lvl="1">
              <a:defRPr sz="1600"/>
            </a:pPr>
            <a:r>
              <a:t>RR &lt;35</a:t>
            </a:r>
          </a:p>
          <a:p>
            <a:pPr lvl="1">
              <a:defRPr sz="1600"/>
            </a:pPr>
            <a:r>
              <a:t>SpO2 &gt;90%</a:t>
            </a:r>
          </a:p>
          <a:p>
            <a:pPr lvl="1">
              <a:defRPr sz="1600"/>
            </a:pPr>
            <a:r>
              <a:t>HR &lt;140 or &lt;20% increase</a:t>
            </a:r>
          </a:p>
          <a:p>
            <a:pPr lvl="1">
              <a:defRPr sz="1600"/>
            </a:pPr>
            <a:r>
              <a:t>No hemodynamic instability</a:t>
            </a:r>
          </a:p>
          <a:p>
            <a:pPr lvl="1">
              <a:defRPr sz="1600"/>
            </a:pPr>
            <a:r>
              <a:t>No respiratory distress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Weaning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Objective Measures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Rapid Shallow Breathing Index (RSBI):</a:t>
            </a:r>
          </a:p>
          <a:p>
            <a:pPr lvl="1">
              <a:defRPr sz="1600"/>
            </a:pPr>
            <a:r>
              <a:t>RR / VT (in liters)</a:t>
            </a:r>
          </a:p>
          <a:p>
            <a:pPr lvl="1">
              <a:defRPr sz="1600"/>
            </a:pPr>
            <a:r>
              <a:t>&lt;105: Likely to succeed</a:t>
            </a:r>
          </a:p>
          <a:p>
            <a:pPr lvl="1">
              <a:defRPr sz="1600"/>
            </a:pPr>
            <a:r>
              <a:t>&gt;105: Likely to fail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Negative Inspiratory Force (NIF):</a:t>
            </a:r>
          </a:p>
          <a:p>
            <a:pPr lvl="1">
              <a:defRPr sz="1600"/>
            </a:pPr>
            <a:r>
              <a:t>&lt;-20 to -30 cmH2O</a:t>
            </a:r>
          </a:p>
          <a:p>
            <a:pPr lvl="1">
              <a:defRPr sz="1600"/>
            </a:pPr>
            <a:r>
              <a:t>Measures inspiratory muscle strength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Other Parameters:</a:t>
            </a:r>
          </a:p>
          <a:p>
            <a:pPr lvl="1">
              <a:defRPr sz="1600"/>
            </a:pPr>
            <a:r>
              <a:t>Spontaneous VT &gt;5 ml/kg</a:t>
            </a:r>
          </a:p>
          <a:p>
            <a:pPr lvl="1">
              <a:defRPr sz="1600"/>
            </a:pPr>
            <a:r>
              <a:t>Vital capacity &gt;10-15 ml/kg</a:t>
            </a:r>
          </a:p>
          <a:p>
            <a:pPr lvl="1">
              <a:defRPr sz="1600"/>
            </a:pPr>
            <a:r>
              <a:t>Minute ventilation &lt;10 L/min</a:t>
            </a:r>
          </a:p>
          <a:p>
            <a:pPr lvl="1">
              <a:defRPr sz="1600"/>
            </a:pPr>
            <a:r>
              <a:t>Maximum voluntary ventilation &gt;2× resting VE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Note: These predict success better than failure. Clinical assessment is most important.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Extubation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Procedure and Considerations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Pre-Extubation:</a:t>
            </a:r>
          </a:p>
          <a:p>
            <a:pPr lvl="1">
              <a:defRPr sz="1600"/>
            </a:pPr>
            <a:r>
              <a:t>Suction ETT and oropharynx</a:t>
            </a:r>
          </a:p>
          <a:p>
            <a:pPr lvl="1">
              <a:defRPr sz="1600"/>
            </a:pPr>
            <a:r>
              <a:t>Suction below vocal cords if possible</a:t>
            </a:r>
          </a:p>
          <a:p>
            <a:pPr lvl="1">
              <a:defRPr sz="1600"/>
            </a:pPr>
            <a:r>
              <a:t>Position patient upright</a:t>
            </a:r>
          </a:p>
          <a:p>
            <a:pPr lvl="1">
              <a:defRPr sz="1600"/>
            </a:pPr>
            <a:r>
              <a:t>Explain procedure to patient</a:t>
            </a:r>
          </a:p>
          <a:p>
            <a:pPr lvl="1">
              <a:defRPr sz="1600"/>
            </a:pPr>
            <a:r>
              <a:t>Have reintubation equipment ready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Procedure:</a:t>
            </a:r>
          </a:p>
          <a:p>
            <a:pPr lvl="1">
              <a:defRPr sz="1600"/>
            </a:pPr>
            <a:r>
              <a:t>1. Deflate cuff</a:t>
            </a:r>
          </a:p>
          <a:p>
            <a:pPr lvl="1">
              <a:defRPr sz="1600"/>
            </a:pPr>
            <a:r>
              <a:t>2. Give positive pressure breath</a:t>
            </a:r>
          </a:p>
          <a:p>
            <a:pPr lvl="1">
              <a:defRPr sz="1600"/>
            </a:pPr>
            <a:r>
              <a:t>3. Remove tube at peak inspiration</a:t>
            </a:r>
          </a:p>
          <a:p>
            <a:pPr>
              <a:defRPr sz="1600"/>
            </a:pPr>
            <a:r>
              <a:t>4. Apply oxygen (mask or nasal cannula)</a:t>
            </a:r>
          </a:p>
          <a:p>
            <a:pPr>
              <a:defRPr sz="1600"/>
            </a:pPr>
            <a:r>
              <a:t>5. Encourage cough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Post-Extubation:</a:t>
            </a:r>
          </a:p>
          <a:p>
            <a:pPr lvl="1">
              <a:defRPr sz="1600"/>
            </a:pPr>
            <a:r>
              <a:t>Monitor closely for stridor</a:t>
            </a:r>
          </a:p>
          <a:p>
            <a:pPr lvl="1">
              <a:defRPr sz="1600"/>
            </a:pPr>
            <a:r>
              <a:t>Humidified oxygen</a:t>
            </a:r>
          </a:p>
          <a:p>
            <a:pPr lvl="1">
              <a:defRPr sz="1600"/>
            </a:pPr>
            <a:r>
              <a:t>Consider noninvasive ventilation if high-risk</a:t>
            </a:r>
          </a:p>
          <a:p>
            <a:pPr lvl="1">
              <a:defRPr sz="1600"/>
            </a:pPr>
            <a:r>
              <a:t>Monitor for respiratory fatigue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Post-Extubation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Preventing Reintubation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Risk Factors for Extubation Failure:</a:t>
            </a:r>
          </a:p>
          <a:p>
            <a:pPr lvl="1">
              <a:defRPr sz="1600"/>
            </a:pPr>
            <a:r>
              <a:t>Prolonged intubation</a:t>
            </a:r>
          </a:p>
          <a:p>
            <a:pPr lvl="1">
              <a:defRPr sz="1600"/>
            </a:pPr>
            <a:r>
              <a:t>Weak cough</a:t>
            </a:r>
          </a:p>
          <a:p>
            <a:pPr lvl="1">
              <a:defRPr sz="1600"/>
            </a:pPr>
            <a:r>
              <a:t>Excess secretions</a:t>
            </a:r>
          </a:p>
          <a:p>
            <a:pPr lvl="1">
              <a:defRPr sz="1600"/>
            </a:pPr>
            <a:r>
              <a:t>Upper airway edema</a:t>
            </a:r>
          </a:p>
          <a:p>
            <a:pPr lvl="1">
              <a:defRPr sz="1600"/>
            </a:pPr>
            <a:r>
              <a:t>CHF</a:t>
            </a:r>
          </a:p>
          <a:p>
            <a:pPr lvl="1">
              <a:defRPr sz="1600"/>
            </a:pPr>
            <a:r>
              <a:t>Neuromuscular disease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Preventive Strategies:</a:t>
            </a:r>
          </a:p>
          <a:p>
            <a:pPr lvl="1">
              <a:defRPr sz="1600"/>
            </a:pPr>
            <a:r>
              <a:t>Noninvasive ventilation (prophylactic in high-risk)</a:t>
            </a:r>
          </a:p>
          <a:p>
            <a:pPr lvl="1">
              <a:defRPr sz="1600"/>
            </a:pPr>
            <a:r>
              <a:t>Aggressive pulmonary toilet</a:t>
            </a:r>
          </a:p>
          <a:p>
            <a:pPr lvl="1">
              <a:defRPr sz="1600"/>
            </a:pPr>
            <a:r>
              <a:t>Humidification</a:t>
            </a:r>
          </a:p>
          <a:p>
            <a:pPr lvl="1">
              <a:defRPr sz="1600"/>
            </a:pPr>
            <a:r>
              <a:t>Early mobilization</a:t>
            </a:r>
          </a:p>
          <a:p>
            <a:pPr lvl="1">
              <a:defRPr sz="1600"/>
            </a:pPr>
            <a:r>
              <a:t>Treat underlying causes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Reintubation Criteria:</a:t>
            </a:r>
          </a:p>
          <a:p>
            <a:pPr lvl="1">
              <a:defRPr sz="1600"/>
            </a:pPr>
            <a:r>
              <a:t>Respiratory failure</a:t>
            </a:r>
          </a:p>
          <a:p>
            <a:pPr lvl="1">
              <a:defRPr sz="1600"/>
            </a:pPr>
            <a:r>
              <a:t>Inability to protect airway</a:t>
            </a:r>
          </a:p>
          <a:p>
            <a:pPr lvl="1">
              <a:defRPr sz="1600"/>
            </a:pPr>
            <a:r>
              <a:t>Severe stridor not responding to treatment</a:t>
            </a:r>
          </a:p>
          <a:p>
            <a:pPr lvl="1">
              <a:defRPr sz="1600"/>
            </a:pPr>
            <a:r>
              <a:t>Hemodynamic instability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Patient: Mr. Smith, 65-year-old male</a:t>
            </a:r>
          </a:p>
          <a:p>
            <a:pPr lvl="1">
              <a:defRPr sz="1600"/>
            </a:pPr>
            <a:r>
              <a:t>Post-operative day 2 after abdominal surgery</a:t>
            </a:r>
          </a:p>
          <a:p>
            <a:pPr lvl="1">
              <a:defRPr sz="1600"/>
            </a:pPr>
            <a:r>
              <a:t>Intubated for respiratory failure</a:t>
            </a:r>
          </a:p>
          <a:p>
            <a:pPr lvl="1">
              <a:defRPr sz="1600"/>
            </a:pPr>
            <a:r>
              <a:t>Current settings: VC-AC, VT 500, Rate 14, FIO2 40%, PEEP 5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Current Status:</a:t>
            </a:r>
          </a:p>
          <a:p>
            <a:pPr lvl="1">
              <a:defRPr sz="1600"/>
            </a:pPr>
            <a:r>
              <a:t>Peak pressure: 35 cmH2O</a:t>
            </a:r>
          </a:p>
          <a:p>
            <a:pPr lvl="1">
              <a:defRPr sz="1600"/>
            </a:pPr>
            <a:r>
              <a:t>Plateau pressure: 28 cmH2O</a:t>
            </a:r>
          </a:p>
          <a:p>
            <a:pPr lvl="1">
              <a:defRPr sz="1600"/>
            </a:pPr>
            <a:r>
              <a:t>SpO2: 94%</a:t>
            </a:r>
          </a:p>
          <a:p>
            <a:pPr lvl="1">
              <a:defRPr sz="1600"/>
            </a:pPr>
            <a:r>
              <a:t>Patient appears uncomfortable, asynchronous with ventilator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Are these pressures acceptable?</a:t>
            </a:r>
          </a:p>
          <a:p>
            <a:pPr lvl="1">
              <a:defRPr sz="1600"/>
            </a:pPr>
            <a:r>
              <a:t>2. What might be causing the asynchrony?</a:t>
            </a:r>
          </a:p>
          <a:p>
            <a:pPr lvl="1">
              <a:defRPr sz="1600"/>
            </a:pPr>
            <a:r>
              <a:t>3. What adjustments would you make?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1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Pressure Assessment:</a:t>
            </a:r>
          </a:p>
          <a:p>
            <a:pPr lvl="1">
              <a:defRPr sz="1600"/>
            </a:pPr>
            <a:r>
              <a:t>Plateau 28: Acceptable (&lt;30)</a:t>
            </a:r>
          </a:p>
          <a:p>
            <a:pPr lvl="1">
              <a:defRPr sz="1600"/>
            </a:pPr>
            <a:r>
              <a:t>Peak-plateau difference: 7 cmH2O (normal airway resistance)</a:t>
            </a:r>
          </a:p>
          <a:p>
            <a:pPr lvl="1">
              <a:defRPr sz="1600"/>
            </a:pPr>
            <a:r>
              <a:t>Pressures are acceptable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Asynchrony Causes:</a:t>
            </a:r>
          </a:p>
          <a:p>
            <a:pPr lvl="1">
              <a:defRPr sz="1600"/>
            </a:pPr>
            <a:r>
              <a:t>Pain/anxiety post-surgery</a:t>
            </a:r>
          </a:p>
          <a:p>
            <a:pPr lvl="1">
              <a:defRPr sz="1600"/>
            </a:pPr>
            <a:r>
              <a:t>Inadequate sedation</a:t>
            </a:r>
          </a:p>
          <a:p>
            <a:pPr lvl="1">
              <a:defRPr sz="1600"/>
            </a:pPr>
            <a:r>
              <a:t>Flow asynchrony (set flow may not match demand)</a:t>
            </a:r>
          </a:p>
          <a:p>
            <a:pPr lvl="1">
              <a:defRPr sz="1600"/>
            </a:pPr>
            <a:r>
              <a:t>Possible inadequate tidal volume for patient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Interventions:</a:t>
            </a:r>
          </a:p>
          <a:p>
            <a:pPr lvl="1">
              <a:defRPr sz="1600"/>
            </a:pPr>
            <a:r>
              <a:t>1. Assess pain and sedation needs</a:t>
            </a:r>
          </a:p>
          <a:p>
            <a:pPr lvl="1">
              <a:defRPr sz="1600"/>
            </a:pPr>
            <a:r>
              <a:t>2. Consider pressure support or PC mode for comfort</a:t>
            </a:r>
          </a:p>
          <a:p>
            <a:pPr lvl="1">
              <a:defRPr sz="1600"/>
            </a:pPr>
            <a:r>
              <a:t>3. Check for auto-PEEP</a:t>
            </a:r>
          </a:p>
          <a:p>
            <a:pPr>
              <a:defRPr sz="1600"/>
            </a:pPr>
            <a:r>
              <a:t>4. If flow asynchrony suspected, increase flow or switch to PC</a:t>
            </a:r>
          </a:p>
          <a:p>
            <a:pPr>
              <a:defRPr sz="1600"/>
            </a:pPr>
            <a:r>
              <a:t>5. Consider spontaneous breathing trial if criteria met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Patient: Mrs. Johnson, 58-year-old female</a:t>
            </a:r>
          </a:p>
          <a:p>
            <a:pPr lvl="1">
              <a:defRPr sz="1600"/>
            </a:pPr>
            <a:r>
              <a:t>ARDS secondary to sepsis</a:t>
            </a:r>
          </a:p>
          <a:p>
            <a:pPr lvl="1">
              <a:defRPr sz="1600"/>
            </a:pPr>
            <a:r>
              <a:t>Day 5 of mechanical ventilation</a:t>
            </a:r>
          </a:p>
          <a:p>
            <a:pPr lvl="1">
              <a:defRPr sz="1600"/>
            </a:pPr>
            <a:r>
              <a:t>Current settings: VC-AC, VT 400 (6 ml/kg), Rate 22, FIO2 70%, PEEP 12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Current Status:</a:t>
            </a:r>
          </a:p>
          <a:p>
            <a:pPr lvl="1">
              <a:defRPr sz="1600"/>
            </a:pPr>
            <a:r>
              <a:t>Plateau pressure: 32 cmH2O</a:t>
            </a:r>
          </a:p>
          <a:p>
            <a:pPr lvl="1">
              <a:defRPr sz="1600"/>
            </a:pPr>
            <a:r>
              <a:t>SpO2: 88%</a:t>
            </a:r>
          </a:p>
          <a:p>
            <a:pPr lvl="1">
              <a:defRPr sz="1600"/>
            </a:pPr>
            <a:r>
              <a:t>Chest X-ray: Bilateral infiltrates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What is the immediate concern?</a:t>
            </a:r>
          </a:p>
          <a:p>
            <a:pPr lvl="1">
              <a:defRPr sz="1600"/>
            </a:pPr>
            <a:r>
              <a:t>2. How would you adjust the ventilator?</a:t>
            </a:r>
          </a:p>
          <a:p>
            <a:pPr lvl="1">
              <a:defRPr sz="1600"/>
            </a:pPr>
            <a:r>
              <a:t>3. What other interventions should be considered?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2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Immediate Concern:</a:t>
            </a:r>
          </a:p>
          <a:p>
            <a:pPr lvl="1">
              <a:defRPr sz="1600"/>
            </a:pPr>
            <a:r>
              <a:t>Plateau pressure 32 exceeds safe limit (&lt;30)</a:t>
            </a:r>
          </a:p>
          <a:p>
            <a:pPr lvl="1">
              <a:defRPr sz="1600"/>
            </a:pPr>
            <a:r>
              <a:t>Risk of ventilator-induced lung injury</a:t>
            </a:r>
          </a:p>
          <a:p>
            <a:pPr lvl="1">
              <a:defRPr sz="1600"/>
            </a:pPr>
            <a:r>
              <a:t>Severe hypoxemia despite high support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Ventilator Adjustments:</a:t>
            </a:r>
          </a:p>
          <a:p>
            <a:pPr lvl="1">
              <a:defRPr sz="1600"/>
            </a:pPr>
            <a:r>
              <a:t>1. Decrease VT to 300-350 ml (4-5 ml/kg)</a:t>
            </a:r>
          </a:p>
          <a:p>
            <a:pPr lvl="1">
              <a:defRPr sz="1600"/>
            </a:pPr>
            <a:r>
              <a:t>2. Check and document driving pressure (Pplat - PEEP)</a:t>
            </a:r>
          </a:p>
          <a:p>
            <a:pPr lvl="1">
              <a:defRPr sz="1600"/>
            </a:pPr>
            <a:r>
              <a:t>3. Increase PEEP per ARDSNet table</a:t>
            </a:r>
          </a:p>
          <a:p>
            <a:pPr>
              <a:defRPr sz="1600"/>
            </a:pPr>
            <a:r>
              <a:t>4. Titrate FIO2 to maintain SpO2 88-95%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Other Interventions:</a:t>
            </a:r>
          </a:p>
          <a:p>
            <a:pPr lvl="1">
              <a:defRPr sz="1600"/>
            </a:pPr>
            <a:r>
              <a:t>Prone positioning if PaO2/FIO2 &lt;150</a:t>
            </a:r>
          </a:p>
          <a:p>
            <a:pPr lvl="1">
              <a:defRPr sz="1600"/>
            </a:pPr>
            <a:r>
              <a:t>Consider neuromuscular blockade if severe</a:t>
            </a:r>
          </a:p>
          <a:p>
            <a:pPr lvl="1">
              <a:defRPr sz="1600"/>
            </a:pPr>
            <a:r>
              <a:t>Evaluate for ECMO if refractory</a:t>
            </a:r>
          </a:p>
          <a:p>
            <a:pPr lvl="1">
              <a:defRPr sz="1600"/>
            </a:pPr>
            <a:r>
              <a:t>Treat underlying sepsis</a:t>
            </a:r>
          </a:p>
          <a:p>
            <a:pPr lvl="1">
              <a:defRPr sz="1600"/>
            </a:pPr>
            <a:r>
              <a:t>Conservative fluid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Select Mode Based on Patient Needs</a:t>
            </a:r>
          </a:p>
          <a:p>
            <a:pPr lvl="1">
              <a:defRPr sz="1600"/>
            </a:pPr>
            <a:r>
              <a:t>Volume control for guaranteed ventilation</a:t>
            </a:r>
          </a:p>
          <a:p>
            <a:pPr lvl="1">
              <a:defRPr sz="1600"/>
            </a:pPr>
            <a:r>
              <a:t>Pressure control for comfort</a:t>
            </a:r>
          </a:p>
          <a:p>
            <a:pPr lvl="1">
              <a:defRPr sz="1600"/>
            </a:pPr>
            <a:r>
              <a:t>Pressure support for weaning</a:t>
            </a:r>
          </a:p>
          <a:p>
            <a:pPr lvl="1">
              <a:defRPr sz="1600"/>
            </a:pPr>
            <a:r>
              <a:t>2. Always Use Lung-Protective Strategy</a:t>
            </a:r>
          </a:p>
          <a:p>
            <a:pPr lvl="1">
              <a:defRPr sz="1600"/>
            </a:pPr>
            <a:r>
              <a:t>6 ml/kg IBW, Pplat &lt;30</a:t>
            </a:r>
          </a:p>
          <a:p>
            <a:pPr lvl="1">
              <a:defRPr sz="1600"/>
            </a:pPr>
            <a:r>
              <a:t>Accept permissive hypercapnia if needed</a:t>
            </a:r>
          </a:p>
          <a:p>
            <a:pPr lvl="1">
              <a:defRPr sz="1600"/>
            </a:pPr>
            <a:r>
              <a:t>3. Graphics Tell the Story</a:t>
            </a:r>
          </a:p>
          <a:p>
            <a:pPr lvl="1">
              <a:defRPr sz="1600"/>
            </a:pPr>
            <a:r>
              <a:t>Learn to recognize normal and abnormal patterns</a:t>
            </a:r>
          </a:p>
          <a:p>
            <a:pPr lvl="1">
              <a:defRPr sz="1600"/>
            </a:pPr>
            <a:r>
              <a:t>Waveforms guide troubleshooting</a:t>
            </a:r>
          </a:p>
          <a:p>
            <a:pPr>
              <a:defRPr sz="1600"/>
            </a:pPr>
            <a:r>
              <a:t>4. Treat the Patient, Not the Numbers</a:t>
            </a:r>
          </a:p>
          <a:p>
            <a:pPr lvl="1">
              <a:defRPr sz="1600"/>
            </a:pPr>
            <a:r>
              <a:t>Clinical assessment trumps parameters</a:t>
            </a:r>
          </a:p>
          <a:p>
            <a:pPr lvl="1">
              <a:defRPr sz="1600"/>
            </a:pPr>
            <a:r>
              <a:t>Comfort and synchrony matter</a:t>
            </a:r>
          </a:p>
          <a:p>
            <a:pPr>
              <a:defRPr sz="1600"/>
            </a:pPr>
            <a:r>
              <a:t>5. Wean Early and Daily</a:t>
            </a:r>
          </a:p>
          <a:p>
            <a:pPr lvl="1">
              <a:defRPr sz="1600"/>
            </a:pPr>
            <a:r>
              <a:t>Daily SBTs for eligible patients</a:t>
            </a:r>
          </a:p>
          <a:p>
            <a:pPr lvl="1">
              <a:defRPr sz="1600"/>
            </a:pPr>
            <a:r>
              <a:t>Use spontaneous awakening trials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ARDSNet. Ventilation with lower tidal volumes as compared with traditional tidal volumes for acute lung injury and the acute respiratory distress syndrome. N Engl J Med. 2000;342(18):1301-1308.</a:t>
            </a:r>
          </a:p>
          <a:p>
            <a:pPr lvl="1">
              <a:defRPr sz="1600"/>
            </a:pPr>
            <a:r>
              <a:t>2. AARC Clinical Practice Guidelines: Mechanical Ventilation of Mechanically Ventilated Patients. Respir Care. 2022.</a:t>
            </a:r>
          </a:p>
          <a:p>
            <a:pPr lvl="1">
              <a:defRPr sz="1600"/>
            </a:pPr>
            <a:r>
              <a:t>3. Girard TD, et al. Efficacy and safety of a paired sedation and ventilator weaning protocol for mechanically ventilated patients in intensive care. Lancet. 2008;371(9607):126-134.</a:t>
            </a:r>
          </a:p>
          <a:p>
            <a:pPr>
              <a:defRPr sz="1600"/>
            </a:pPr>
            <a:r>
              <a:t>4. Papazian L, et al. Formal guidelines: management of acute respiratory distress syndrome. Ann Intensive Care. 2019;9(1):69.</a:t>
            </a:r>
          </a:p>
          <a:p>
            <a:pPr>
              <a:defRPr sz="1600"/>
            </a:pPr>
            <a:r>
              <a:t>5. Tobin MJ. Principles and Practice of Mechanical Ventilation. 4th ed. McGraw-Hill; 2018.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Respiratory Care Department</a:t>
            </a:r>
          </a:p>
          <a:p/>
          <a:p>
            <a:r>
              <a:t>Excellence in Mechanical Ventilation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