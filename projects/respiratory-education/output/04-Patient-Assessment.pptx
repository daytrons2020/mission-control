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importance of systematic assessment in respiratory care. Each skill builds upon the previous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systematic approach ensures nothing is missed. Always start with the patient, not the monitors.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60 seconds are critical. Look for signs of distress before touching any equipment.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Respiratory rate is often the first vital sign to change in respiratory distress. Don't ignore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ABG interpretation is a step-by-step process. Follow the steps every time for consistent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these cases. The key is to identify the primary disorder first, then look for compensation.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A-a gradient helps differentiate between hypoxemia due to hypoventilation vs. other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Pulse oximetry is a screening tool, not a diagnostic test. Always correlate with clinical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Capnography is the gold standard for confirming ET tube placement. Always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capnography waveform tells a story. Learn to recognize these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Inspection can reveal critical information before you ever touch the patient.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Palpation confirms what you observed during inspection and guides your auscultation.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Percussion helps identify areas of consolidation, air trapping, or fluid.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Auscultation is the cornerstone of respiratory assessment. Be systematic and thorough.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adventitious sound has a specific meaning. Learn to differentiate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systematic approach to CXR interpretation prevents missing important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Recognizing these patterns is essential for timely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classic presentation of acute-on-chronic respiratory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patient needs immediate intervention. The high PaCO2 with metabolic compensation suggests chronic CO2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Post-operative patients are at high risk for pulmonary embolism.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combination of hypoxemia, respiratory alkalosis, and clear lungs is classic for 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Master these skills and you'll be an effective respiratory therapist.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Patient Assessment in Respiratory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99CC"/>
                </a:solidFill>
              </a:defRPr>
            </a:pPr>
            <a:r>
              <a:t>Comprehensive Assessment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Presenter: [Name], RRT, [Credentials]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Date: [Date]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Department: Respiratory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By the end of this session, participants will be able to: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Perform a comprehensive respiratory patient assessment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Interpret arterial blood gas results and identify acid-base disorders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Analyze pulse oximetry and capnography data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Conduct a thorough physical examination of the chest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Evaluate chest X-rays for common respiratory conditions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Integrate assessment findings to develop a care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Assessment Framework: Systematic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The 'Look, Listen, Feel' Method: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1. Look (Inspection)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General appearance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Work of breathing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Skin color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Chest movement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2. Listen (Auscultation)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Breath sounds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Voice sounds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Adventitious sounds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3. Feel (Palpation &amp; Percussion)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Chest expansion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Tactile fremitus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Percussion notes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**Always assess:** Patient → Equipment →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Initial Patient Assessment: The First 60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General Appearance: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Level of consciousness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Position of comfort (tripod, unable to lie flat)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Anxiety level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Diaphoresis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Skin color (cyanosis, pallor)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Work of Breathing: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Respiratory rate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Use of accessory muscles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Pursed-lip breathing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Nasal flaring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Paradoxical breathing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Ability to speak (full sentences vs. words)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Immediate Concerns: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Respiratory distress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Hemodynamic instability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Altered mental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Vital Signs: Respiratory Assessment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Respiratory Rate: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Normal: 12-20 breaths/min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Tachypnea: &gt;20 (early sign of distress)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Bradypnea: &lt;12 (concerning for fatigue)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Pattern: Regular vs. irregular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Pulse Oximetry: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Normal: 95-100%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Hypoxemic: &lt;90%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Trend is more important than single value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Verify with clinical picture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Heart Rate and Blood Pressure: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Tachycardia common with hypoxemia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Pulsus paradoxus in severe asthma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Hypertension with CO2 retention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Temperature: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Fever suggests infection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Hypothermia in sepsis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Arterial Blood Gas Analysis: The ABCs of ABGs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Normal Values: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pH: 7.35-7.45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PaCO2: 35-45 mmHg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PaO2: 80-100 mmHg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HCO3: 22-26 mEq/L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Base excess: -2 to +2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Step-by-Step Interpretation: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1. Look at pH: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&lt;7.35 = Acidosis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&gt;7.45 = Alkalosis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7.35-7.45 = Normal or compensated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2. Determine primary disorder: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Respiratory: PaCO2 abnormal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Metabolic: HCO3 abnormal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3. Check for compensation: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Is the other parameter moving in the correct direction?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ABG Interpretation Examples: Practice Cases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PaCO2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HCO3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Acute respiratory acidosis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7.32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Chronic respiratory acidosis with compensation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7.48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Acute respiratory alkalosis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7.30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Metabolic acidosis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7.40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Compensated respiratory acidosis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Oxygenation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PaO2 Interpretation: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80-100 mmHg: Normal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60-80 mmHg: Mild hypoxemia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40-60 mmHg: Moderate hypoxemia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&lt;40 mmHg: Severe hypoxemia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Age Adjustment: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Expected PaO2 = 100 - (age × 0.3)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Or PaO2 &gt;80 acceptable for elderly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Alveolar-arterial (A-a) Gradient: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PAO2 = (FIO2 × [760-47]) - (PaCO2/0.8)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A-a gradient = PAO2 - PaO2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Normal: &lt;10-15 mmHg (on room air)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&gt;20 suggests V/Q mismatch or shunt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PaO2/FIO2 Ratio: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Normal: 400-500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&lt;300: Acute lung injury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&lt;200: 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Pulse Oximetry: Principles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How It Works: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Measures light absorption at two wavelengths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Calculates ratio of oxygenated to deoxygenated hemoglobin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Displays as SpO2 percentage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Normal Values: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95-100%: Normal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90-94%: Mild hypoxemia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85-89%: Moderate hypoxemia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&lt;85%: Severe hypoxemia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Limitations: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Poor perfusion (shock, cold extremities)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Motion artifact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Nail polish (especially dark colors)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Carboxyhemoglobin (reads falsely high)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Methemoglobin (reads 85%)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Anemia (may be normal SpO2 but low oxygen content)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Capnography: ETCO2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Normal Values: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ETCO2: 35-45 mmHg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Typically 2-5 mmHg lower than PaCO2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Waveform Phases: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**Inspiration:** Baseline (should be zero)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**Beginning exhalation:** Dead space gas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**Exhalation:** Rapid rise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**Alveolar plateau:** Peak ETCO2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**Inspiration:** Sharp decline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Clinical Applications: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Verify ET tube placement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Monitor ventilation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Detect changes in perfusion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Identify rebreathing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Procedural sedation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Capnography Interpretation: Waveform Abnormalities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Hypoventilation: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Elevated ETCO2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Increased baseline (rebreathing)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Hyperventilation: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Decreased ETCO2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Airway Obstruction: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Prolonged expiratory upstroke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'Shark fin' appearance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Incomplete plateau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Esophageal Intubation: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 waveform or very small, irregular waveform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Cardiac Arrest: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Sudden drop to zero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Poor compression quality: low ETCO2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ROSC: Sudden increase in ETCO2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Physical Examination: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General: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Level of consciousness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Position (tripod, orthopnea)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Cyanosis (central vs. peripheral)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Clubbing of fingers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Barrel chest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Breathing Pattern: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Rate and rhythm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Depth (tidal volume)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Symmetry of chest movement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Use of accessory muscles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Pursed-lip breathing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Paradoxical movement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Skin: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Color (pallor, cyanosis, plethora)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Temperature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Diaphoresis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Subcutaneous emphysema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Physical Examination: Palpation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Tracheal Position: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Should be midline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Deviation suggests tension pneumothorax or atelectasis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Chest Expansion: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Place hands on chest, thumbs at midline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Watch thumb movement during inspiration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Should be symmetrical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Asymmetry suggests pneumothorax, effusion, or atelectasis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Tactile Fremitus: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Patient says '99' or 'blue moon'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Feel vibrations on chest wall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Increased: Consolidation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Decreased: Pleural effusion, pneumothorax, COPD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Subcutaneous Emphysema: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Crackling sensation (crepitus)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Indicates air leak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Physical Examination: Percussion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Technique: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Place middle finger firmly on chest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Tap distal interphalangeal joint with other middle finger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Compare side to side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Sounds: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**Resonant:** Normal lung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**Hyperresonant:** Air trapping (COPD, asthma), pneumothorax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**Dull:** Consolidation, pleural effusion, atelectasis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**Flat:** Large pleural effusion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**Tympanic:** Gastric bubble (left lower anterior)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Pattern Recognition: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Upper lobes: Clavicles to 4th rib anterior, scapulae posterior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Lower lobes: Below 4th rib anterior, below scapulae posterior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Physical Examination: Auscultation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Systematic Approach: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Compare side to side at each level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Anterior: 6 locations (3 each side)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Posterior: 10 locations (5 each side)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Lateral: 4 locations (2 each side)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Normal Breath Sounds: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Vesicular: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Location: Peripheral lung fields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Quality: Soft, low-pitched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Timing: Inspiration &gt; expiration (3:1)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Bronchial: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Location: Over trachea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Quality: Loud, high-pitched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Timing: Inspiration = expiration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Pause between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Bronchovesicular: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Location: Over major bronchi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Quality: Intermediate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Timing: Inspiration = expiration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Adventitious Breath Sounds: Abnormal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Crackles (Rales):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**Fine:** High-pitched, late inspiration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Causes: Interstitial fibrosis, early CHF, atelectasis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**Coarse:** Low-pitched, early inspiration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○ - Causes: Secretions, pulmonary edema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Wheezes: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Continuous, musical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**Expiratory:** Asthma, COPD (narrowing of small airways)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**Inspiratory:** Upper airway obstruction, severe asthma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**Monophonic:** Single airway obstruction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**Polyphonic:** Multiple airways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Rhonchi: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Continuous, low-pitched, snoring quality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Secretions in large airways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May clear with cough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Pleural Friction Rub: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Discontinuous, grating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Pleural inflammation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Best heard at end-inspiration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Chest X-Ray Interpretation: Systematic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ABC Method: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 - Airway: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Trachea midline?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Carina visible?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ET tube position (3-5 cm above carina)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B - Breathing (Lungs and Pleura):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Lung fields clear?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Vascular markings present?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Costophrenic angles sharp?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Pleural spaces clear?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 - Circulation (Heart and Mediastinum):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Heart size (CTR &lt;50%)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Mediastinum midline?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Aortic knob visible?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D - Disability (Bones):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Ribs, clavicles, spine intact?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Subcutaneous emphysema?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E - Everything Else: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Lines and tubes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Diaphragms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Soft tissues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Common Chest X-Ray Findings: Pathological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Consolidation (Pneumonia):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Airspace opacification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Air bronchograms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Lobar or segmental distribution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Atelectasis: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Volume loss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Increased opacity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Tracheal/mediastinal shift toward affected side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Elevated hemidiaphragm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Pleural Effusion: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Blunted costophrenic angle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Meniscus sign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Mediastinal shift away (if large)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Pneumothorax: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Visible visceral pleural line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Absent lung markings peripheral to line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Tracheal/mediastinal shift away (if tension)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Pulmonary Edema: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Bilateral perihilar opacities (bat wing)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Kerley B lines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Cardiomegaly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Pleural effusions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Case Study 1: Patient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Mr. Davis, 72-year-old male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Found confused at home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History of COPD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Assessment: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Alert but confused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RR: 8, shallow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SpO2: 78% on room air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Accessory muscle use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Barrel chest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Diminished breath sounds bilaterally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ABG: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pH: 7.18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PaCO2: 88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PaO2: 45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HCO3: 32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Questions: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Interpret the ABG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What is your immediate management?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What mode of ventilation (if needed) would be appropriate?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Case Study 1: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ABG Interpretation: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pH 7.18: Severe acidemia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PaCO2 88: Respiratory acidosis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HCO3 32: Metabolic compensation (chronic)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PaO2 45: Severe hypoxemia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**Diagnosis:** Acute-on-chronic respiratory acidosis with severe hypoxemia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Immediate Management: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Call for help/rapid response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Assist ventilation with BVM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Controlled oxygen (2-4L NC initially)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Prepare for intubation if no rapid improvement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Consider NIV if alert and cooperative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Ventilation Strategy: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If intubated: Volume or pressure control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Low tidal volume (6-8 ml/kg)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Slow rate initially (10-12) to allow time for compensation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Monitor for auto-PEEP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Case Study 2: Patient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Mrs. Patel, 58-year-old female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Post-operative day 3 after hip surgery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Sudden onset dyspnea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Assessment: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Anxious, tachypneic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RR: 28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SpO2: 89% on 4L NC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Clear breath sounds bilaterally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 chest pain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ABG: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pH: 7.48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PaCO2: 30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PaO2: 62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HCO3: 22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Questions: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1. Interpret the ABG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What is the differential diagnosis?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What additional tests would you recommend?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Case Study 2: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ABG Interpretation: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pH 7.48: Alkalemia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PaCO2 30: Respiratory alkalosis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HCO3 22: Normal (acute)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PaO2 62: Hypoxemia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**Diagnosis:** Acute respiratory alkalosis with hypoxemia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Differential Diagnosis: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Pulmonary embolism (high suspicion post-op)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Pneumonia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Atelectasis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Pulmonary edema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Pneumothorax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Additional Tests: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CT pulmonary angiography (PE protocol)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D-dimer (if low pre-test probability)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Chest X-ray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ECG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Troponin (rule out cardiac)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**Clinical Pearl:** Post-operative patient with clear lungs, hypoxemia, and respiratory alkalosis should raise suspicion for PE until proven otherwise.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1. Assessment is Systematic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Look, listen, feel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Patient first, then equipment, then data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2. ABG Interpretation is Logical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pH first, then primary disorder, then compensation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Practice makes perfect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3. Physical Exam Skills are Essential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Inspection reveals work of breathing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Auscultation identifies pathology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Palpation and percussion confirm findings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4. Technology Supports, Doesn't Replace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Pulse oximetry and capnography are tools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Clinical assessment is paramount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defRPr sz="2000" b="1">
                <a:solidFill>
                  <a:srgbClr val="003366"/>
                </a:solidFill>
              </a:defRPr>
            </a:pPr>
            <a:r>
              <a:t>5. Integrate All Findings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No single finding tells the whole story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Look for patterns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1. AARC Clinical Practice Guideline: Blood Gas Analysis and Hemoximetry. Respir Care. 2022.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2. AARC Clinical Practice Guideline: Capnography/Capnometry. Respir Care. 2023.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3. AARC Clinical Practice Guideline: Pulse Oximetry. Respir Care. 2021.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4. Kacmarek RM, Stoller JK, Heuer AJ. Egan's Fundamentals of Respiratory Care. 12th ed. Elsevier; 2021.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5. Wilkins RL, Dexter JR. Respiratory Disease: A Case Study Approach to Patient Care. 4th ed. FA Davis; 2017.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99CC"/>
                </a:solidFill>
              </a:defRPr>
            </a:pPr>
            <a:r>
              <a:t>Assessment is the Foundation of Quality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Respiratory Care Department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