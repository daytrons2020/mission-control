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importance of understanding anatomy and physiology as the foundation for all respiratory care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respiratory system is divided into conducting and respiratory zones. The conducting zone moves air to the respiratory zone where gas exchange occurs.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nose is the first line of defense for the respiratory system. Humidification and warming of inspired air protects the lower airways.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pharynx serves as a common pathway for both air and food, with mechanisms to prevent aspiration.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larynx protects the lower airway during swallowing and produces sound. The epiglottis is critical for preventing aspiration.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trachea's C-shaped rings provide structural support while allowing the esophagus to expand during swallowing. The carina is highly sensitive and can trigger cough.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bronchial tree branches like an inverted tree. Understanding the differences between right and left mainstem bronchi is critical for proper ET tube 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alveoli provide an enormous surface area for gas exchange. The thin alveolar-capillary membrane allows efficient diffusion of gases.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pleural space and negative pressure are essential for normal lung expansion. Any air or fluid in this space can compromise breathing.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Breathing is driven by pressure gradients created by changes in thoracic volume. Understanding these pressures is essential for managing mechanical ventilation.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Lung volumes are measured with spirometry. Residual volume cannot be measured with simple spirometry and requires special techniques.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Capacities are combinations of two or more volumes. FRC is important as it maintains continuous gas exchange between breaths.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Dynamic lung function tests are essential for diagnosing and monitoring obstructive and restrictive lung diseases.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Compliance and resistance determine the work of breathing. In mechanical ventilation, we measure these to optimize ventilator settings.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Surfactant is essential for preventing alveolar collapse. Without it, surface tension would cause alveoli to collapse during exhalation.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alveolar-capillary membrane is extremely thin to facilitate gas exchange. Fick's Law explains factors affecting diffusion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Understanding partial pressures is essential for interpreting arterial blood gases and calculating alveolar-arterial oxygen gradients.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oxygen is transported bound to hemoglobin. The small amount dissolved in plasma is what drives diffusion into tissues.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S-shape of the curve ensures high saturation at normal PaO2 while allowing oxygen release in tissues where it's needed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CO2 is primarily transported as bicarbonate. The chloride shift and Haldane effect facilitate efficient CO2 transport.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respiratory system plays a crucial role in acid-base balance by regulating CO2 levels. The kidneys compensate over longer periods.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Breathing is controlled by centers in the brainstem that integrate chemical and neural signals to maintain appropriate ventilation.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CO2 is the primary driver of ventilation in healthy individuals. In chronic CO2 retainers, low O2 becomes the primary drive, requiring careful oxygen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Lung reflexes protect against overinflation, noxious stimuli, and help clear secretions through coughing.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case demonstrates respiratory alkalosis due to hypoxemic drive. The patient is hyperventilating to compensate for hypoxemia from pneumonia.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case shows acute-on-chronic respiratory acidosis. High-flow oxygen could suppress the patient's hypoxic drive, worsening respiratory acidosis.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these key concepts as they form the foundation for understanding respiratory disease and therapy.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references provide additional detail for those interested in deeper study of respiratory physiology.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Respiratory Anatomy and Physiology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Foundations of Respiratory Care</a:t>
            </a:r>
          </a:p>
          <a:p/>
          <a:p>
            <a:r>
              <a:t>Presenter: [Name], RRT</a:t>
            </a:r>
          </a:p>
          <a:p>
            <a:r>
              <a:t>Date: [Date]</a:t>
            </a:r>
          </a:p>
          <a:p>
            <a:r>
              <a:t>Department: Respiratory Care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By the end of this session, participants will be able to:</a:t>
            </a:r>
          </a:p>
          <a:p>
            <a:pPr lvl="1">
              <a:defRPr sz="1600"/>
            </a:pPr>
            <a:r>
              <a:t>Identify and describe the structures of the upper and lower respiratory tract</a:t>
            </a:r>
          </a:p>
          <a:p>
            <a:pPr lvl="1">
              <a:defRPr sz="1600"/>
            </a:pPr>
            <a:r>
              <a:t>Explain the mechanics of ventilation including pressure gradients and compliance</a:t>
            </a:r>
          </a:p>
          <a:p>
            <a:pPr lvl="1">
              <a:defRPr sz="1600"/>
            </a:pPr>
            <a:r>
              <a:t>Describe the process of gas exchange at the alveolar-capillary membrane</a:t>
            </a:r>
          </a:p>
          <a:p>
            <a:pPr lvl="1">
              <a:defRPr sz="1600"/>
            </a:pPr>
            <a:r>
              <a:t>Explain oxygen transport from lungs to tissues</a:t>
            </a:r>
          </a:p>
          <a:p>
            <a:pPr lvl="1">
              <a:defRPr sz="1600"/>
            </a:pPr>
            <a:r>
              <a:t>Describe the neural and chemical control of breathing</a:t>
            </a:r>
          </a:p>
          <a:p>
            <a:pPr lvl="1">
              <a:defRPr sz="1600"/>
            </a:pPr>
            <a:r>
              <a:t>Apply anatomical and physiological knowledge to clinical scenarios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Overview of the Respiratory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Two Main Divisions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Upper Respiratory Tract</a:t>
            </a:r>
          </a:p>
          <a:p>
            <a:pPr lvl="1">
              <a:defRPr sz="1600"/>
            </a:pPr>
            <a:r>
              <a:t>Nose and nasal cavity</a:t>
            </a:r>
          </a:p>
          <a:p>
            <a:pPr lvl="1">
              <a:defRPr sz="1600"/>
            </a:pPr>
            <a:r>
              <a:t>Pharynx (nasopharynx, oropharynx, laryngopharynx)</a:t>
            </a:r>
          </a:p>
          <a:p>
            <a:pPr lvl="1">
              <a:defRPr sz="1600"/>
            </a:pPr>
            <a:r>
              <a:t>Larynx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Lower Respiratory Tract</a:t>
            </a:r>
          </a:p>
          <a:p>
            <a:pPr lvl="1">
              <a:defRPr sz="1600"/>
            </a:pPr>
            <a:r>
              <a:t>Trachea</a:t>
            </a:r>
          </a:p>
          <a:p>
            <a:pPr lvl="1">
              <a:defRPr sz="1600"/>
            </a:pPr>
            <a:r>
              <a:t>Bronchial tree (bronchi, bronchioles)</a:t>
            </a:r>
          </a:p>
          <a:p>
            <a:pPr lvl="1">
              <a:defRPr sz="1600"/>
            </a:pPr>
            <a:r>
              <a:t>Respiratory zone (respiratory bronchioles, alveolar ducts, alveoli)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Upper Respiratory Tract: Nose and Nasal Cavity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Structure and Function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External Nose</a:t>
            </a:r>
          </a:p>
          <a:p>
            <a:pPr lvl="1">
              <a:defRPr sz="1600"/>
            </a:pPr>
            <a:r>
              <a:t>Framework of bone and cartilage</a:t>
            </a:r>
          </a:p>
          <a:p>
            <a:pPr lvl="1">
              <a:defRPr sz="1600"/>
            </a:pPr>
            <a:r>
              <a:t>Opens into nasal vestibule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Nasal Cavity</a:t>
            </a:r>
          </a:p>
          <a:p>
            <a:pPr lvl="1">
              <a:defRPr sz="1600"/>
            </a:pPr>
            <a:r>
              <a:t>Divided by nasal septum</a:t>
            </a:r>
          </a:p>
          <a:p>
            <a:pPr lvl="1">
              <a:defRPr sz="1600"/>
            </a:pPr>
            <a:r>
              <a:t>Three conchae (superior, middle, inferior)</a:t>
            </a:r>
          </a:p>
          <a:p>
            <a:pPr lvl="1">
              <a:defRPr sz="1600"/>
            </a:pPr>
            <a:r>
              <a:t>Creates turbulent airflow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Functions:</a:t>
            </a:r>
          </a:p>
          <a:p>
            <a:pPr lvl="1">
              <a:defRPr sz="1600"/>
            </a:pPr>
            <a:r>
              <a:t>Filtration: Nasal hairs filter large particles</a:t>
            </a:r>
          </a:p>
          <a:p>
            <a:pPr lvl="1">
              <a:defRPr sz="1600"/>
            </a:pPr>
            <a:r>
              <a:t>Humidification: Warms and moistens air to 100% humidity at body temperature</a:t>
            </a:r>
          </a:p>
          <a:p>
            <a:pPr lvl="1">
              <a:defRPr sz="1600"/>
            </a:pPr>
            <a:r>
              <a:t>Olfaction: Smell receptors in superior region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Upper Respiratory Tract: Pharynx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Three Regions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Nasopharynx</a:t>
            </a:r>
          </a:p>
          <a:p>
            <a:pPr lvl="1">
              <a:defRPr sz="1600"/>
            </a:pPr>
            <a:r>
              <a:t>Posterior to nasal cavity</a:t>
            </a:r>
          </a:p>
          <a:p>
            <a:pPr lvl="1">
              <a:defRPr sz="1600"/>
            </a:pPr>
            <a:r>
              <a:t>Contains pharyngeal tonsil (adenoids)</a:t>
            </a:r>
          </a:p>
          <a:p>
            <a:pPr lvl="1">
              <a:defRPr sz="1600"/>
            </a:pPr>
            <a:r>
              <a:t>Opening of Eustachian tubes</a:t>
            </a:r>
          </a:p>
          <a:p>
            <a:pPr lvl="1">
              <a:defRPr sz="1600"/>
            </a:pPr>
            <a:r>
              <a:t>Passage for air only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Oropharynx</a:t>
            </a:r>
          </a:p>
          <a:p>
            <a:pPr lvl="1">
              <a:defRPr sz="1600"/>
            </a:pPr>
            <a:r>
              <a:t>Posterior to oral cavity</a:t>
            </a:r>
          </a:p>
          <a:p>
            <a:pPr lvl="1">
              <a:defRPr sz="1600"/>
            </a:pPr>
            <a:r>
              <a:t>Contains palatine tonsils</a:t>
            </a:r>
          </a:p>
          <a:p>
            <a:pPr lvl="1">
              <a:defRPr sz="1600"/>
            </a:pPr>
            <a:r>
              <a:t>Common passage for air and food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Laryngopharynx</a:t>
            </a:r>
          </a:p>
          <a:p>
            <a:pPr lvl="1">
              <a:defRPr sz="1600"/>
            </a:pPr>
            <a:r>
              <a:t>Inferior to oropharynx</a:t>
            </a:r>
          </a:p>
          <a:p>
            <a:pPr lvl="1">
              <a:defRPr sz="1600"/>
            </a:pPr>
            <a:r>
              <a:t>Splits into esophagus (posterior) and larynx (anterior)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Upper Respiratory Tract: Larynx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The Voice Box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Structure</a:t>
            </a:r>
          </a:p>
          <a:p>
            <a:pPr lvl="1">
              <a:defRPr sz="1600"/>
            </a:pPr>
            <a:r>
              <a:t>Cartilage framework (thyroid, cricoid, arytenoid)</a:t>
            </a:r>
          </a:p>
          <a:p>
            <a:pPr lvl="1">
              <a:defRPr sz="1600"/>
            </a:pPr>
            <a:r>
              <a:t>Vocal folds (true vocal cords)</a:t>
            </a:r>
          </a:p>
          <a:p>
            <a:pPr lvl="1">
              <a:defRPr sz="1600"/>
            </a:pPr>
            <a:r>
              <a:t>Vestibular folds (false vocal cords)</a:t>
            </a:r>
          </a:p>
          <a:p>
            <a:pPr lvl="1">
              <a:defRPr sz="1600"/>
            </a:pPr>
            <a:r>
              <a:t>Glottis: opening between vocal folds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Functions</a:t>
            </a:r>
          </a:p>
          <a:p>
            <a:pPr lvl="1">
              <a:defRPr sz="1600"/>
            </a:pPr>
            <a:r>
              <a:t>Airway protection: Epiglottis closes over larynx during swallowing</a:t>
            </a:r>
          </a:p>
          <a:p>
            <a:pPr lvl="1">
              <a:defRPr sz="1600"/>
            </a:pPr>
            <a:r>
              <a:t>Voice production: Vocal fold vibration creates sound</a:t>
            </a:r>
          </a:p>
          <a:p>
            <a:pPr lvl="1">
              <a:defRPr sz="1600"/>
            </a:pPr>
            <a:r>
              <a:t>Airway maintenance: Rigid structure prevents collapse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Clinical Note: The thyroid cartilage (Adam's apple) is an important landmark for intubation.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Lower Respiratory Tract: Trachea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The Windpipe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Structure</a:t>
            </a:r>
          </a:p>
          <a:p>
            <a:pPr lvl="1">
              <a:defRPr sz="1600"/>
            </a:pPr>
            <a:r>
              <a:t>10-12 cm long in adults</a:t>
            </a:r>
          </a:p>
          <a:p>
            <a:pPr lvl="1">
              <a:defRPr sz="1600"/>
            </a:pPr>
            <a:r>
              <a:t>16-20 C-shaped cartilage rings</a:t>
            </a:r>
          </a:p>
          <a:p>
            <a:pPr lvl="1">
              <a:defRPr sz="1600"/>
            </a:pPr>
            <a:r>
              <a:t>Open portion posterior (esophagus sits here)</a:t>
            </a:r>
          </a:p>
          <a:p>
            <a:pPr lvl="1">
              <a:defRPr sz="1600"/>
            </a:pPr>
            <a:r>
              <a:t>Divides at carina (T4-T5 level) into mainstem bronchi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Function</a:t>
            </a:r>
          </a:p>
          <a:p>
            <a:pPr lvl="1">
              <a:defRPr sz="1600"/>
            </a:pPr>
            <a:r>
              <a:t>Conducts air to bronchi</a:t>
            </a:r>
          </a:p>
          <a:p>
            <a:pPr lvl="1">
              <a:defRPr sz="1600"/>
            </a:pPr>
            <a:r>
              <a:t>Cilia and mucus trap and remove particles</a:t>
            </a:r>
          </a:p>
          <a:p>
            <a:pPr lvl="1">
              <a:defRPr sz="1600"/>
            </a:pPr>
            <a:r>
              <a:t>Cough reflex triggered by carina stimulation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Clinical Note: The right mainstem bronchus is more vertical than the left, making it more likely for aspirated objects and ET tubes to enter the right lung.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Lower Respiratory Tract: Bronchial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Branching Pattern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Mainstem Bronchi</a:t>
            </a:r>
          </a:p>
          <a:p>
            <a:pPr lvl="1">
              <a:defRPr sz="1600"/>
            </a:pPr>
            <a:r>
              <a:t>Right: wider, shorter, more vertical</a:t>
            </a:r>
          </a:p>
          <a:p>
            <a:pPr lvl="1">
              <a:defRPr sz="1600"/>
            </a:pPr>
            <a:r>
              <a:t>Left: narrower, longer, more horizontal (passes under aortic arch)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Lobar Bronchi (Secondary)</a:t>
            </a:r>
          </a:p>
          <a:p>
            <a:pPr lvl="1">
              <a:defRPr sz="1600"/>
            </a:pPr>
            <a:r>
              <a:t>Right: 3 lobes (upper, middle, lower)</a:t>
            </a:r>
          </a:p>
          <a:p>
            <a:pPr lvl="1">
              <a:defRPr sz="1600"/>
            </a:pPr>
            <a:r>
              <a:t>Left: 2 lobes (upper, lower)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Segmental Bronchi (Tertiary)</a:t>
            </a:r>
          </a:p>
          <a:p>
            <a:pPr lvl="1">
              <a:defRPr sz="1600"/>
            </a:pPr>
            <a:r>
              <a:t>10 segments on right</a:t>
            </a:r>
          </a:p>
          <a:p>
            <a:pPr lvl="1">
              <a:defRPr sz="1600"/>
            </a:pPr>
            <a:r>
              <a:t>8-10 segments on left</a:t>
            </a:r>
          </a:p>
          <a:p>
            <a:pPr lvl="1">
              <a:defRPr sz="1600"/>
            </a:pPr>
            <a:r>
              <a:t>Each segment is a separate anatomical and functional unit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Bronchioles</a:t>
            </a:r>
          </a:p>
          <a:p>
            <a:pPr lvl="1">
              <a:defRPr sz="1600"/>
            </a:pPr>
            <a:r>
              <a:t>No cartilage</a:t>
            </a:r>
          </a:p>
          <a:p>
            <a:pPr lvl="1">
              <a:defRPr sz="1600"/>
            </a:pPr>
            <a:r>
              <a:t>Smooth muscle allows bronchoconstriction/dilation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The Respiratory Zone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Where Gas Exchange Occurs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Respiratory Bronchioles</a:t>
            </a:r>
          </a:p>
          <a:p>
            <a:pPr lvl="1">
              <a:defRPr sz="1600"/>
            </a:pPr>
            <a:r>
              <a:t>First structures with alveoli</a:t>
            </a:r>
          </a:p>
          <a:p>
            <a:pPr lvl="1">
              <a:defRPr sz="1600"/>
            </a:pPr>
            <a:r>
              <a:t>Transitional zone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Alveolar Ducts</a:t>
            </a:r>
          </a:p>
          <a:p>
            <a:pPr lvl="1">
              <a:defRPr sz="1600"/>
            </a:pPr>
            <a:r>
              <a:t>Lead to alveolar sacs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Alveoli</a:t>
            </a:r>
          </a:p>
          <a:p>
            <a:pPr lvl="1">
              <a:defRPr sz="1600"/>
            </a:pPr>
            <a:r>
              <a:t>300-500 million per lung</a:t>
            </a:r>
          </a:p>
          <a:p>
            <a:pPr lvl="1">
              <a:defRPr sz="1600"/>
            </a:pPr>
            <a:r>
              <a:t>Total surface area: 70-100 square meters</a:t>
            </a:r>
          </a:p>
          <a:p>
            <a:pPr lvl="1">
              <a:defRPr sz="1600"/>
            </a:pPr>
            <a:r>
              <a:t>Thin walls (0.5 micrometers)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Alveolar Structure</a:t>
            </a:r>
          </a:p>
          <a:p>
            <a:pPr lvl="1">
              <a:defRPr sz="1600"/>
            </a:pPr>
            <a:r>
              <a:t>Type I pneumocytes: gas exchange surface</a:t>
            </a:r>
          </a:p>
          <a:p>
            <a:pPr lvl="1">
              <a:defRPr sz="1600"/>
            </a:pPr>
            <a:r>
              <a:t>Type II pneumocytes: surfactant production</a:t>
            </a:r>
          </a:p>
          <a:p>
            <a:pPr lvl="1">
              <a:defRPr sz="1600"/>
            </a:pPr>
            <a:r>
              <a:t>Alveolar macrophages: immune defense</a:t>
            </a:r>
          </a:p>
          <a:p>
            <a:pPr lvl="1">
              <a:defRPr sz="1600"/>
            </a:pPr>
            <a:r>
              <a:t>Capillary network: extensive for gas exchange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The Pleura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Membranes of the Lungs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Parietal Pleura</a:t>
            </a:r>
          </a:p>
          <a:p>
            <a:pPr lvl="1">
              <a:defRPr sz="1600"/>
            </a:pPr>
            <a:r>
              <a:t>Lines thoracic cavity</a:t>
            </a:r>
          </a:p>
          <a:p>
            <a:pPr lvl="1">
              <a:defRPr sz="1600"/>
            </a:pPr>
            <a:r>
              <a:t>Costal (ribs), diaphragmatic, mediastinal portions</a:t>
            </a:r>
          </a:p>
          <a:p>
            <a:pPr lvl="1">
              <a:defRPr sz="1600"/>
            </a:pPr>
            <a:r>
              <a:t>Pain-sensitive (somatic innervation)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Visceral Pleura</a:t>
            </a:r>
          </a:p>
          <a:p>
            <a:pPr lvl="1">
              <a:defRPr sz="1600"/>
            </a:pPr>
            <a:r>
              <a:t>Covers lung surface</a:t>
            </a:r>
          </a:p>
          <a:p>
            <a:pPr lvl="1">
              <a:defRPr sz="1600"/>
            </a:pPr>
            <a:r>
              <a:t>Extends into fissures</a:t>
            </a:r>
          </a:p>
          <a:p>
            <a:pPr lvl="1">
              <a:defRPr sz="1600"/>
            </a:pPr>
            <a:r>
              <a:t>Not pain-sensitive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Pleural Space</a:t>
            </a:r>
          </a:p>
          <a:p>
            <a:pPr lvl="1">
              <a:defRPr sz="1600"/>
            </a:pPr>
            <a:r>
              <a:t>Potential space between layers</a:t>
            </a:r>
          </a:p>
          <a:p>
            <a:pPr lvl="1">
              <a:defRPr sz="1600"/>
            </a:pPr>
            <a:r>
              <a:t>Contains 10-20 ml serous fluid</a:t>
            </a:r>
          </a:p>
          <a:p>
            <a:pPr lvl="1">
              <a:defRPr sz="1600"/>
            </a:pPr>
            <a:r>
              <a:t>Negative pressure (-5 to -10 cmH2O at rest)</a:t>
            </a:r>
          </a:p>
          <a:p>
            <a:pPr lvl="1">
              <a:defRPr sz="1600"/>
            </a:pPr>
            <a:r>
              <a:t>Allows lungs to expand with chest wall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Clinical Note: Pneumothorax occurs when air enters pleural space, eliminating negative pressure and causing lung collapse.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Mechanics of Breathing: Pressure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Boyle's Law Application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Boyle's Law: Pressure × Volume = Constant (at constant temperature)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Inspiration:</a:t>
            </a:r>
          </a:p>
          <a:p>
            <a:pPr lvl="1">
              <a:defRPr sz="1600"/>
            </a:pPr>
            <a:r>
              <a:t>Diaphragm contracts (moves down)</a:t>
            </a:r>
          </a:p>
          <a:p>
            <a:pPr lvl="1">
              <a:defRPr sz="1600"/>
            </a:pPr>
            <a:r>
              <a:t>External intercostals contract (ribs up and out)</a:t>
            </a:r>
          </a:p>
          <a:p>
            <a:pPr lvl="1">
              <a:defRPr sz="1600"/>
            </a:pPr>
            <a:r>
              <a:t>Thoracic volume increases</a:t>
            </a:r>
          </a:p>
          <a:p>
            <a:pPr lvl="1">
              <a:defRPr sz="1600"/>
            </a:pPr>
            <a:r>
              <a:t>Intrapleural pressure becomes more negative (-8 to -10 cmH2O)</a:t>
            </a:r>
          </a:p>
          <a:p>
            <a:pPr lvl="1">
              <a:defRPr sz="1600"/>
            </a:pPr>
            <a:r>
              <a:t>Alveolar pressure drops below atmospheric (-1 cmH2O)</a:t>
            </a:r>
          </a:p>
          <a:p>
            <a:pPr lvl="1">
              <a:defRPr sz="1600"/>
            </a:pPr>
            <a:r>
              <a:t>Air flows in (high to low pressure)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Expiration:</a:t>
            </a:r>
          </a:p>
          <a:p>
            <a:pPr lvl="1">
              <a:defRPr sz="1600"/>
            </a:pPr>
            <a:r>
              <a:t>Muscles relax</a:t>
            </a:r>
          </a:p>
          <a:p>
            <a:pPr lvl="1">
              <a:defRPr sz="1600"/>
            </a:pPr>
            <a:r>
              <a:t>Thoracic volume decreases</a:t>
            </a:r>
          </a:p>
          <a:p>
            <a:pPr lvl="1">
              <a:defRPr sz="1600"/>
            </a:pPr>
            <a:r>
              <a:t>Alveolar pressure rises above atmospheric (+1 cmH2O)</a:t>
            </a:r>
          </a:p>
          <a:p>
            <a:pPr lvl="1">
              <a:defRPr sz="1600"/>
            </a:pPr>
            <a:r>
              <a:t>Air flows out</a:t>
            </a:r>
          </a:p>
          <a:p>
            <a:pPr lvl="1">
              <a:defRPr sz="1600"/>
            </a:pPr>
            <a:r>
              <a:t>Passive process at rest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Lung Volumes and Capacities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Static Lung Volumes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Tidal Volume (VT)</a:t>
            </a:r>
          </a:p>
          <a:p>
            <a:pPr lvl="1">
              <a:defRPr sz="1600"/>
            </a:pPr>
            <a:r>
              <a:t>500 ml (adult at rest)</a:t>
            </a:r>
          </a:p>
          <a:p>
            <a:pPr lvl="1">
              <a:defRPr sz="1600"/>
            </a:pPr>
            <a:r>
              <a:t>Air moving in and out with normal breath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Inspiratory Reserve Volume (IRV)</a:t>
            </a:r>
          </a:p>
          <a:p>
            <a:pPr lvl="1">
              <a:defRPr sz="1600"/>
            </a:pPr>
            <a:r>
              <a:t>3000 ml</a:t>
            </a:r>
          </a:p>
          <a:p>
            <a:pPr lvl="1">
              <a:defRPr sz="1600"/>
            </a:pPr>
            <a:r>
              <a:t>Additional air that can be inhaled after normal inspiration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Expiratory Reserve Volume (ERV)</a:t>
            </a:r>
          </a:p>
          <a:p>
            <a:pPr lvl="1">
              <a:defRPr sz="1600"/>
            </a:pPr>
            <a:r>
              <a:t>1100 ml</a:t>
            </a:r>
          </a:p>
          <a:p>
            <a:pPr lvl="1">
              <a:defRPr sz="1600"/>
            </a:pPr>
            <a:r>
              <a:t>Additional air that can be exhaled after normal expiration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Residual Volume (RV)</a:t>
            </a:r>
          </a:p>
          <a:p>
            <a:pPr lvl="1">
              <a:defRPr sz="1600"/>
            </a:pPr>
            <a:r>
              <a:t>1200 ml</a:t>
            </a:r>
          </a:p>
          <a:p>
            <a:pPr lvl="1">
              <a:defRPr sz="1600"/>
            </a:pPr>
            <a:r>
              <a:t>Air remaining after maximal exhalation</a:t>
            </a:r>
          </a:p>
          <a:p>
            <a:pPr lvl="1">
              <a:defRPr sz="1600"/>
            </a:pPr>
            <a:r>
              <a:t>Prevents alveolar collapse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Lung Capacities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Combinations of Volumes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Inspiratory Capacity (IC)</a:t>
            </a:r>
          </a:p>
          <a:p>
            <a:pPr lvl="1">
              <a:defRPr sz="1600"/>
            </a:pPr>
            <a:r>
              <a:t>VT + IRV = 3500 ml</a:t>
            </a:r>
          </a:p>
          <a:p>
            <a:pPr lvl="1">
              <a:defRPr sz="1600"/>
            </a:pPr>
            <a:r>
              <a:t>Maximum air that can be inhaled from resting expiratory level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Functional Residual Capacity (FRC)</a:t>
            </a:r>
          </a:p>
          <a:p>
            <a:pPr lvl="1">
              <a:defRPr sz="1600"/>
            </a:pPr>
            <a:r>
              <a:t>ERV + RV = 2300 ml</a:t>
            </a:r>
          </a:p>
          <a:p>
            <a:pPr lvl="1">
              <a:defRPr sz="1600"/>
            </a:pPr>
            <a:r>
              <a:t>Air remaining at resting expiratory level</a:t>
            </a:r>
          </a:p>
          <a:p>
            <a:pPr lvl="1">
              <a:defRPr sz="1600"/>
            </a:pPr>
            <a:r>
              <a:t>Important for gas exchange continuity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Vital Capacity (VC)</a:t>
            </a:r>
          </a:p>
          <a:p>
            <a:pPr lvl="1">
              <a:defRPr sz="1600"/>
            </a:pPr>
            <a:r>
              <a:t>IRV + VT + ERV = 4600 ml</a:t>
            </a:r>
          </a:p>
          <a:p>
            <a:pPr lvl="1">
              <a:defRPr sz="1600"/>
            </a:pPr>
            <a:r>
              <a:t>Maximum air that can be exhaled after maximal inhalation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Total Lung Capacity (TLC)</a:t>
            </a:r>
          </a:p>
          <a:p>
            <a:pPr lvl="1">
              <a:defRPr sz="1600"/>
            </a:pPr>
            <a:r>
              <a:t>All volumes combined = 5800 ml</a:t>
            </a:r>
          </a:p>
          <a:p>
            <a:pPr lvl="1">
              <a:defRPr sz="1600"/>
            </a:pPr>
            <a:r>
              <a:t>Maximum air lungs can contain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Dynamic Lung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Forced Expiratory Measurements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Forced Vital Capacity (FVC)</a:t>
            </a:r>
          </a:p>
          <a:p>
            <a:pPr lvl="1">
              <a:defRPr sz="1600"/>
            </a:pPr>
            <a:r>
              <a:t>Maximum amount of air forcibly exhaled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Forced Expiratory Volume in 1 second (FEV1)</a:t>
            </a:r>
          </a:p>
          <a:p>
            <a:pPr lvl="1">
              <a:defRPr sz="1600"/>
            </a:pPr>
            <a:r>
              <a:t>Amount of air exhaled in first second of FVC</a:t>
            </a:r>
          </a:p>
          <a:p>
            <a:pPr lvl="1">
              <a:defRPr sz="1600"/>
            </a:pPr>
            <a:r>
              <a:t>Normal: &gt;80% of predicted</a:t>
            </a:r>
          </a:p>
          <a:p>
            <a:pPr lvl="1">
              <a:defRPr sz="1600"/>
            </a:pPr>
            <a:r>
              <a:t>FEV1/FVC ratio: normally &gt;0.70 (70%)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Peak Expiratory Flow (PEF)</a:t>
            </a:r>
          </a:p>
          <a:p>
            <a:pPr lvl="1">
              <a:defRPr sz="1600"/>
            </a:pPr>
            <a:r>
              <a:t>Maximum flow rate during forced expiration</a:t>
            </a:r>
          </a:p>
          <a:p>
            <a:pPr lvl="1">
              <a:defRPr sz="1600"/>
            </a:pPr>
            <a:r>
              <a:t>Measured with peak flow meter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Clinical Significance:</a:t>
            </a:r>
          </a:p>
          <a:p>
            <a:pPr lvl="1">
              <a:defRPr sz="1600"/>
            </a:pPr>
            <a:r>
              <a:t>Obstructive disease: FEV1 reduced more than FVC, ratio &lt;0.70</a:t>
            </a:r>
          </a:p>
          <a:p>
            <a:pPr lvl="1">
              <a:defRPr sz="1600"/>
            </a:pPr>
            <a:r>
              <a:t>Restrictive disease: Both FEV1 and FVC reduced, ratio normal or increased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Compliance and Resistance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Determinants of Ventilation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Compliance (Distensibility)</a:t>
            </a:r>
          </a:p>
          <a:p>
            <a:pPr lvl="1">
              <a:defRPr sz="1600"/>
            </a:pPr>
            <a:r>
              <a:t>Change in volume / Change in pressure</a:t>
            </a:r>
          </a:p>
          <a:p>
            <a:pPr lvl="1">
              <a:defRPr sz="1600"/>
            </a:pPr>
            <a:r>
              <a:t>Normal: 100 ml/cmH2O</a:t>
            </a:r>
          </a:p>
          <a:p>
            <a:pPr lvl="1">
              <a:defRPr sz="1600"/>
            </a:pPr>
            <a:r>
              <a:t>Static compliance: Measured during no-flow (plateau pressure)</a:t>
            </a:r>
          </a:p>
          <a:p>
            <a:pPr lvl="1">
              <a:defRPr sz="1600"/>
            </a:pPr>
            <a:r>
              <a:t>Dynamic compliance: Measured during breathing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Factors Affecting Compliance:</a:t>
            </a:r>
          </a:p>
          <a:p>
            <a:pPr lvl="1">
              <a:defRPr sz="1600"/>
            </a:pPr>
            <a:r>
              <a:t>Surfactant (increases compliance)</a:t>
            </a:r>
          </a:p>
          <a:p>
            <a:pPr lvl="1">
              <a:defRPr sz="1600"/>
            </a:pPr>
            <a:r>
              <a:t>Elastic tissue (decreases compliance)</a:t>
            </a:r>
          </a:p>
          <a:p>
            <a:pPr lvl="1">
              <a:defRPr sz="1600"/>
            </a:pPr>
            <a:r>
              <a:t>Disease states (pulmonary fibrosis decreases, emphysema increases)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Resistance (Opposition to flow)</a:t>
            </a:r>
          </a:p>
          <a:p>
            <a:pPr lvl="1">
              <a:defRPr sz="1600"/>
            </a:pPr>
            <a:r>
              <a:t>Primarily in airways</a:t>
            </a:r>
          </a:p>
          <a:p>
            <a:pPr lvl="1">
              <a:defRPr sz="1600"/>
            </a:pPr>
            <a:r>
              <a:t>Radius is major factor (Poiseuille's Law: resistance ∝ 1/r⁴)</a:t>
            </a:r>
          </a:p>
          <a:p>
            <a:pPr lvl="1">
              <a:defRPr sz="1600"/>
            </a:pPr>
            <a:r>
              <a:t>Bronchoconstriction dramatically increases resistance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Surfactant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Surface Tension Reduction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Composition</a:t>
            </a:r>
          </a:p>
          <a:p>
            <a:pPr lvl="1">
              <a:defRPr sz="1600"/>
            </a:pPr>
            <a:r>
              <a:t>Dipalmitoylphosphatidylcholine (DPPC) - primary component</a:t>
            </a:r>
          </a:p>
          <a:p>
            <a:pPr lvl="1">
              <a:defRPr sz="1600"/>
            </a:pPr>
            <a:r>
              <a:t>Proteins (SP-A, SP-B, SP-C, SP-D)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Production</a:t>
            </a:r>
          </a:p>
          <a:p>
            <a:pPr lvl="1">
              <a:defRPr sz="1600"/>
            </a:pPr>
            <a:r>
              <a:t>Type II alveolar cells</a:t>
            </a:r>
          </a:p>
          <a:p>
            <a:pPr lvl="1">
              <a:defRPr sz="1600"/>
            </a:pPr>
            <a:r>
              <a:t>Begins at 24-28 weeks gestation</a:t>
            </a:r>
          </a:p>
          <a:p>
            <a:pPr lvl="1">
              <a:defRPr sz="1600"/>
            </a:pPr>
            <a:r>
              <a:t>Mature levels at 35 weeks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Function</a:t>
            </a:r>
          </a:p>
          <a:p>
            <a:pPr lvl="1">
              <a:defRPr sz="1600"/>
            </a:pPr>
            <a:r>
              <a:t>Reduces surface tension at air-liquid interface</a:t>
            </a:r>
          </a:p>
          <a:p>
            <a:pPr lvl="1">
              <a:defRPr sz="1600"/>
            </a:pPr>
            <a:r>
              <a:t>Prevents alveolar collapse</a:t>
            </a:r>
          </a:p>
          <a:p>
            <a:pPr lvl="1">
              <a:defRPr sz="1600"/>
            </a:pPr>
            <a:r>
              <a:t>Reduces work of breathing</a:t>
            </a:r>
          </a:p>
          <a:p>
            <a:pPr lvl="1">
              <a:defRPr sz="1600"/>
            </a:pPr>
            <a:r>
              <a:t>Prevents pulmonary edema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Clinical Note: Respiratory Distress Syndrome (RDS) in premature infants results from surfactant deficiency. Treatment includes surfactant replacement therapy.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Gas Exchange: Diffusion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Alveolar-Capillary Membrane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Structure</a:t>
            </a:r>
          </a:p>
          <a:p>
            <a:pPr lvl="1">
              <a:defRPr sz="1600"/>
            </a:pPr>
            <a:r>
              <a:t>Alveolar epithelium (Type I cells)</a:t>
            </a:r>
          </a:p>
          <a:p>
            <a:pPr lvl="1">
              <a:defRPr sz="1600"/>
            </a:pPr>
            <a:r>
              <a:t>Basement membrane</a:t>
            </a:r>
          </a:p>
          <a:p>
            <a:pPr lvl="1">
              <a:defRPr sz="1600"/>
            </a:pPr>
            <a:r>
              <a:t>Capillary endothelium</a:t>
            </a:r>
          </a:p>
          <a:p>
            <a:pPr lvl="1">
              <a:defRPr sz="1600"/>
            </a:pPr>
            <a:r>
              <a:t>Total thickness: 0.5 micrometers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Fick's Law of Diffusion</a:t>
            </a:r>
          </a:p>
          <a:p>
            <a:pPr lvl="1">
              <a:defRPr sz="1600"/>
            </a:pPr>
            <a:r>
              <a:t>Rate of diffusion ∝ (Surface Area × Pressure Difference × Solubility) / (Thickness × √Molecular Weight)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Diffusion-Limited vs. Perfusion-Limited</a:t>
            </a:r>
          </a:p>
          <a:p>
            <a:pPr lvl="1">
              <a:defRPr sz="1600"/>
            </a:pPr>
            <a:r>
              <a:t>O2: Normally perfusion-limited (can increase with exercise)</a:t>
            </a:r>
          </a:p>
          <a:p>
            <a:pPr lvl="1">
              <a:defRPr sz="1600"/>
            </a:pPr>
            <a:r>
              <a:t>CO: Diffusion-limited (binds tightly to hemoglobin)</a:t>
            </a:r>
          </a:p>
          <a:p>
            <a:pPr lvl="1">
              <a:defRPr sz="1600"/>
            </a:pPr>
            <a:r>
              <a:t>CO2: Highly soluble, easily diffuses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Partial Pressures of Gases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Dalton's Law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Dalton's Law: Total pressure = Sum of partial pressures of individual gases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Atmospheric Air at Sea Level (760 mmHg):</a:t>
            </a:r>
          </a:p>
          <a:p>
            <a:pPr lvl="1">
              <a:defRPr sz="1600"/>
            </a:pPr>
            <a:r>
              <a:t>Nitrogen (N2): 79% × 760 = 600 mmHg</a:t>
            </a:r>
          </a:p>
          <a:p>
            <a:pPr lvl="1">
              <a:defRPr sz="1600"/>
            </a:pPr>
            <a:r>
              <a:t>Oxygen (O2): 21% × 760 = 160 mmHg</a:t>
            </a:r>
          </a:p>
          <a:p>
            <a:pPr lvl="1">
              <a:defRPr sz="1600"/>
            </a:pPr>
            <a:r>
              <a:t>Water vapor: Variable (47 mmHg at body temperature)</a:t>
            </a:r>
          </a:p>
          <a:p>
            <a:pPr lvl="1">
              <a:defRPr sz="1600"/>
            </a:pPr>
            <a:r>
              <a:t>CO2: 0.04% (negligible)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Alveolar Air:</a:t>
            </a:r>
          </a:p>
          <a:p>
            <a:pPr lvl="1">
              <a:defRPr sz="1600"/>
            </a:pPr>
            <a:r>
              <a:t>Humidified (PH2O = 47 mmHg)</a:t>
            </a:r>
          </a:p>
          <a:p>
            <a:pPr lvl="1">
              <a:defRPr sz="1600"/>
            </a:pPr>
            <a:r>
              <a:t>O2 consumed, CO2 added</a:t>
            </a:r>
          </a:p>
          <a:p>
            <a:pPr lvl="1">
              <a:defRPr sz="1600"/>
            </a:pPr>
            <a:r>
              <a:t>PAO2 ≈ 100 mmHg</a:t>
            </a:r>
          </a:p>
          <a:p>
            <a:pPr lvl="1">
              <a:defRPr sz="1600"/>
            </a:pPr>
            <a:r>
              <a:t>PACO2 ≈ 40 mmHg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Arterial Blood:</a:t>
            </a:r>
          </a:p>
          <a:p>
            <a:pPr lvl="1">
              <a:defRPr sz="1600"/>
            </a:pPr>
            <a:r>
              <a:t>PaO2: 80-100 mmHg</a:t>
            </a:r>
          </a:p>
          <a:p>
            <a:pPr lvl="1">
              <a:defRPr sz="1600"/>
            </a:pPr>
            <a:r>
              <a:t>PaCO2: 35-45 mmHg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Oxygen Transport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From Lungs to Tissues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Oxygen Transport:</a:t>
            </a:r>
          </a:p>
          <a:p>
            <a:pPr lvl="1">
              <a:defRPr sz="1600"/>
            </a:pPr>
            <a:r>
              <a:t>Dissolved in plasma: 1.5% (PaO2 × 0.003)</a:t>
            </a:r>
          </a:p>
          <a:p>
            <a:pPr lvl="1">
              <a:defRPr sz="1600"/>
            </a:pPr>
            <a:r>
              <a:t>Bound to hemoglobin: 98.5%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Hemoglobin</a:t>
            </a:r>
          </a:p>
          <a:p>
            <a:pPr lvl="1">
              <a:defRPr sz="1600"/>
            </a:pPr>
            <a:r>
              <a:t>4 heme groups (each binds one O2 molecule)</a:t>
            </a:r>
          </a:p>
          <a:p>
            <a:pPr lvl="1">
              <a:defRPr sz="1600"/>
            </a:pPr>
            <a:r>
              <a:t>4 globin chains</a:t>
            </a:r>
          </a:p>
          <a:p>
            <a:pPr lvl="1">
              <a:defRPr sz="1600"/>
            </a:pPr>
            <a:r>
              <a:t>Normal Hgb: 14-18 g/dL (men), 12-16 g/dL (women)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Oxygen Capacity</a:t>
            </a:r>
          </a:p>
          <a:p>
            <a:pPr lvl="1">
              <a:defRPr sz="1600"/>
            </a:pPr>
            <a:r>
              <a:t>1 g Hgb binds 1.34 ml O2</a:t>
            </a:r>
          </a:p>
          <a:p>
            <a:pPr lvl="1">
              <a:defRPr sz="1600"/>
            </a:pPr>
            <a:r>
              <a:t>Normal: 20 ml O2 per 100 ml blood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Oxygen Saturation (SaO2)</a:t>
            </a:r>
          </a:p>
          <a:p>
            <a:pPr lvl="1">
              <a:defRPr sz="1600"/>
            </a:pPr>
            <a:r>
              <a:t>Percentage of Hgb binding sites occupied by O2</a:t>
            </a:r>
          </a:p>
          <a:p>
            <a:pPr lvl="1">
              <a:defRPr sz="1600"/>
            </a:pPr>
            <a:r>
              <a:t>Normal: 95-100%</a:t>
            </a:r>
          </a:p>
          <a:p>
            <a:pPr lvl="1">
              <a:defRPr sz="1600"/>
            </a:pPr>
            <a:r>
              <a:t>Related to PaO2 by oxyhemoglobin dissociation curve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Oxyhemoglobin Dissociation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S-Shaped Curve Explained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Shape Significance:</a:t>
            </a:r>
          </a:p>
          <a:p>
            <a:pPr lvl="1">
              <a:defRPr sz="1600"/>
            </a:pPr>
            <a:r>
              <a:t>Flat top (PaO2 60-100 mmHg): SaO2 remains high despite PaO2 changes</a:t>
            </a:r>
          </a:p>
          <a:p>
            <a:pPr lvl="1">
              <a:defRPr sz="1600"/>
            </a:pPr>
            <a:r>
              <a:t>Steep portion (PaO2 20-60 mmHg): Small PaO2 changes cause large SaO2 changes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Key Points:</a:t>
            </a:r>
          </a:p>
          <a:p>
            <a:pPr lvl="1">
              <a:defRPr sz="1600"/>
            </a:pPr>
            <a:r>
              <a:t>PaO2 60 = SaO2 90% (acceptable)</a:t>
            </a:r>
          </a:p>
          <a:p>
            <a:pPr lvl="1">
              <a:defRPr sz="1600"/>
            </a:pPr>
            <a:r>
              <a:t>PaO2 40 = SaO2 75% (hypoxemia)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Factors Shifting Curve Right (Decreased Affinity, Easier O2 Release):</a:t>
            </a:r>
          </a:p>
          <a:p>
            <a:pPr lvl="1">
              <a:defRPr sz="1600"/>
            </a:pPr>
            <a:r>
              <a:t>Increased temperature, Increased CO2 (Bohr effect), Decreased pH, Increased 2,3-DPG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Factors Shifting Curve Left (Increased Affinity, Harder O2 Release):</a:t>
            </a:r>
          </a:p>
          <a:p>
            <a:pPr lvl="1">
              <a:defRPr sz="1600"/>
            </a:pPr>
            <a:r>
              <a:t>Decreased temperature, Decreased CO2, Increased pH, Fetal hemoglobin, CO poisoning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Carbon Dioxide Transport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From Tissues to Lungs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CO2 Transport Forms:</a:t>
            </a:r>
          </a:p>
          <a:p>
            <a:pPr lvl="1">
              <a:defRPr sz="1600"/>
            </a:pPr>
            <a:r>
              <a:t>1. Dissolved: 7-10% (PCO2 × 0.07)</a:t>
            </a:r>
          </a:p>
          <a:p>
            <a:pPr lvl="1">
              <a:defRPr sz="1600"/>
            </a:pPr>
            <a:r>
              <a:t>2. Carbamino compounds: 20% (bound to proteins, mostly Hgb)</a:t>
            </a:r>
          </a:p>
          <a:p>
            <a:pPr lvl="1">
              <a:defRPr sz="1600"/>
            </a:pPr>
            <a:r>
              <a:t>3. Bicarbonate: 70% (HCO3-)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Chloride Shift (Hamburger Effect)</a:t>
            </a:r>
          </a:p>
          <a:p>
            <a:pPr lvl="1">
              <a:defRPr sz="1600"/>
            </a:pPr>
            <a:r>
              <a:t>In tissues: CO2 enters RBC, converted to HCO3-, HCO3- leaves cell, Cl- enters</a:t>
            </a:r>
          </a:p>
          <a:p>
            <a:pPr lvl="1">
              <a:defRPr sz="1600"/>
            </a:pPr>
            <a:r>
              <a:t>In lungs: Reverse occurs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Haldane Effect</a:t>
            </a:r>
          </a:p>
          <a:p>
            <a:pPr lvl="1">
              <a:defRPr sz="1600"/>
            </a:pPr>
            <a:r>
              <a:t>Deoxygenated Hgb binds more CO2 than oxygenated Hgb</a:t>
            </a:r>
          </a:p>
          <a:p>
            <a:pPr lvl="1">
              <a:defRPr sz="1600"/>
            </a:pPr>
            <a:r>
              <a:t>Facilitates CO2 pickup in tissues and release in lungs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Acid-Base Balance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Henderson-Hasselbalch Equation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Equation: pH = 6.1 + log([HCO3-] / (0.03 × PaCO2))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Normal Values:</a:t>
            </a:r>
          </a:p>
          <a:p>
            <a:pPr lvl="1">
              <a:defRPr sz="1600"/>
            </a:pPr>
            <a:r>
              <a:t>pH: 7.35-7.45</a:t>
            </a:r>
          </a:p>
          <a:p>
            <a:pPr lvl="1">
              <a:defRPr sz="1600"/>
            </a:pPr>
            <a:r>
              <a:t>PaCO2: 35-45 mmHg</a:t>
            </a:r>
          </a:p>
          <a:p>
            <a:pPr lvl="1">
              <a:defRPr sz="1600"/>
            </a:pPr>
            <a:r>
              <a:t>HCO3-: 22-26 mEq/L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Regulatory Mechanisms:</a:t>
            </a:r>
          </a:p>
          <a:p>
            <a:pPr lvl="1">
              <a:defRPr sz="1600"/>
            </a:pPr>
            <a:r>
              <a:t>1. Buffers (immediate): Bicarbonate, proteins, hemoglobin</a:t>
            </a:r>
          </a:p>
          <a:p>
            <a:pPr lvl="1">
              <a:defRPr sz="1600"/>
            </a:pPr>
            <a:r>
              <a:t>2. Respiratory (minutes): Change ventilation to alter PaCO2</a:t>
            </a:r>
          </a:p>
          <a:p>
            <a:pPr lvl="1">
              <a:defRPr sz="1600"/>
            </a:pPr>
            <a:r>
              <a:t>3. Renal (hours to days): Excrete or retain HCO3-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Disorders:</a:t>
            </a:r>
          </a:p>
          <a:p>
            <a:pPr lvl="1">
              <a:defRPr sz="1600"/>
            </a:pPr>
            <a:r>
              <a:t>Respiratory acidosis: Increased PaCO2</a:t>
            </a:r>
          </a:p>
          <a:p>
            <a:pPr lvl="1">
              <a:defRPr sz="1600"/>
            </a:pPr>
            <a:r>
              <a:t>Respiratory alkalosis: Decreased PaCO2</a:t>
            </a:r>
          </a:p>
          <a:p>
            <a:pPr lvl="1">
              <a:defRPr sz="1600"/>
            </a:pPr>
            <a:r>
              <a:t>Metabolic acidosis: Decreased HCO3-</a:t>
            </a:r>
          </a:p>
          <a:p>
            <a:pPr lvl="1">
              <a:defRPr sz="1600"/>
            </a:pPr>
            <a:r>
              <a:t>Metabolic alkalosis: Increased HCO3-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Neural Control of Breathing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Respiratory Centers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Medullary Centers</a:t>
            </a:r>
          </a:p>
          <a:p>
            <a:pPr lvl="1">
              <a:defRPr sz="1600"/>
            </a:pPr>
            <a:r>
              <a:t>Dorsal Respiratory Group (DRG): Controls inspiration, responds to chemical stimuli</a:t>
            </a:r>
          </a:p>
          <a:p>
            <a:pPr lvl="1">
              <a:defRPr sz="1600"/>
            </a:pPr>
            <a:r>
              <a:t>Ventral Respiratory Group (VRG): Active during forced breathing, controls expiration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Pontine Centers</a:t>
            </a:r>
          </a:p>
          <a:p>
            <a:pPr lvl="1">
              <a:defRPr sz="1600"/>
            </a:pPr>
            <a:r>
              <a:t>Apneustic center: Promotes inspiration (inhibited by pneumotaxic)</a:t>
            </a:r>
          </a:p>
          <a:p>
            <a:pPr lvl="1">
              <a:defRPr sz="1600"/>
            </a:pPr>
            <a:r>
              <a:t>Pneumotaxic center: Limits inspiration, controls rate and depth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Integration:</a:t>
            </a:r>
          </a:p>
          <a:p>
            <a:pPr lvl="1">
              <a:defRPr sz="1600"/>
            </a:pPr>
            <a:r>
              <a:t>Normal breathing: DRG generates rhythm</a:t>
            </a:r>
          </a:p>
          <a:p>
            <a:pPr lvl="1">
              <a:defRPr sz="1600"/>
            </a:pPr>
            <a:r>
              <a:t>Exercise: VRG activates for active expiration</a:t>
            </a:r>
          </a:p>
          <a:p>
            <a:pPr lvl="1">
              <a:defRPr sz="1600"/>
            </a:pPr>
            <a:r>
              <a:t>Pontine centers fine-tune pattern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Chemical Control of Breathing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Central and Peripheral Chemoreceptors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Central Chemoreceptors (Medulla)</a:t>
            </a:r>
          </a:p>
          <a:p>
            <a:pPr lvl="1">
              <a:defRPr sz="1600"/>
            </a:pPr>
            <a:r>
              <a:t>Respond to H+ concentration in CSF</a:t>
            </a:r>
          </a:p>
          <a:p>
            <a:pPr lvl="1">
              <a:defRPr sz="1600"/>
            </a:pPr>
            <a:r>
              <a:t>H+ does not cross blood-brain barrier, but CO2 does</a:t>
            </a:r>
          </a:p>
          <a:p>
            <a:pPr lvl="1">
              <a:defRPr sz="1600"/>
            </a:pPr>
            <a:r>
              <a:t>CO2 + H2O → H2CO3 → H+ + HCO3-</a:t>
            </a:r>
          </a:p>
          <a:p>
            <a:pPr lvl="1">
              <a:defRPr sz="1600"/>
            </a:pPr>
            <a:r>
              <a:t>Primary drive for ventilation under normal conditions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Peripheral Chemoreceptors (Carotid and Aortic Bodies)</a:t>
            </a:r>
          </a:p>
          <a:p>
            <a:pPr lvl="1">
              <a:defRPr sz="1600"/>
            </a:pPr>
            <a:r>
              <a:t>Respond to:</a:t>
            </a:r>
          </a:p>
          <a:p>
            <a:pPr lvl="1">
              <a:defRPr sz="1600"/>
            </a:pPr>
            <a:r>
              <a:t>Decreased PaO2 (hypoxemia, &lt;60 mmHg)</a:t>
            </a:r>
          </a:p>
          <a:p>
            <a:pPr lvl="1">
              <a:defRPr sz="1600"/>
            </a:pPr>
            <a:r>
              <a:t>Increased PaCO2 (hypercapnia)</a:t>
            </a:r>
          </a:p>
          <a:p>
            <a:pPr lvl="1">
              <a:defRPr sz="1600"/>
            </a:pPr>
            <a:r>
              <a:t>Decreased pH (acidemia)</a:t>
            </a:r>
          </a:p>
          <a:p>
            <a:pPr lvl="1">
              <a:defRPr sz="1600"/>
            </a:pPr>
            <a:r>
              <a:t>Primary response to hypoxemia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Clinical Note: In COPD with chronic CO2 retention, hypoxemia becomes primary drive (respond to low O2, not high CO2).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Lung Reflexes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Protective Mechanisms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Hering-Breuer Inflation Reflex</a:t>
            </a:r>
          </a:p>
          <a:p>
            <a:pPr lvl="1">
              <a:defRPr sz="1600"/>
            </a:pPr>
            <a:r>
              <a:t>Stretch receptors in smooth muscle of airways</a:t>
            </a:r>
          </a:p>
          <a:p>
            <a:pPr lvl="1">
              <a:defRPr sz="1600"/>
            </a:pPr>
            <a:r>
              <a:t>Inhibits inspiration when lungs overinflate</a:t>
            </a:r>
          </a:p>
          <a:p>
            <a:pPr lvl="1">
              <a:defRPr sz="1600"/>
            </a:pPr>
            <a:r>
              <a:t>More active in infants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Deflation Reflex</a:t>
            </a:r>
          </a:p>
          <a:p>
            <a:pPr lvl="1">
              <a:defRPr sz="1600"/>
            </a:pPr>
            <a:r>
              <a:t>Stimulates inspiration when lungs deflate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Irritant Reflex</a:t>
            </a:r>
          </a:p>
          <a:p>
            <a:pPr lvl="1">
              <a:defRPr sz="1600"/>
            </a:pPr>
            <a:r>
              <a:t>Noxious stimuli (smoke, dust) trigger bronchoconstriction and cough</a:t>
            </a:r>
          </a:p>
          <a:p>
            <a:pPr lvl="1">
              <a:defRPr sz="1600"/>
            </a:pPr>
            <a:r>
              <a:t>Receptors in epithelium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Juxtapulmonary Capillary Receptors (J-receptors)</a:t>
            </a:r>
          </a:p>
          <a:p>
            <a:pPr lvl="1">
              <a:defRPr sz="1600"/>
            </a:pPr>
            <a:r>
              <a:t>Located near capillaries</a:t>
            </a:r>
          </a:p>
          <a:p>
            <a:pPr lvl="1">
              <a:defRPr sz="1600"/>
            </a:pPr>
            <a:r>
              <a:t>Stimulated by increased interstitial fluid (pulmonary edema)</a:t>
            </a:r>
          </a:p>
          <a:p>
            <a:pPr lvl="1">
              <a:defRPr sz="1600"/>
            </a:pPr>
            <a:r>
              <a:t>Cause rapid, shallow breathing and dyspnea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Cough Reflex</a:t>
            </a:r>
          </a:p>
          <a:p>
            <a:pPr lvl="1">
              <a:defRPr sz="1600"/>
            </a:pPr>
            <a:r>
              <a:t>Triggered by mechanical or chemical irritation</a:t>
            </a:r>
          </a:p>
          <a:p>
            <a:pPr lvl="1">
              <a:defRPr sz="1600"/>
            </a:pPr>
            <a:r>
              <a:t>Carina most sensitive area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Clinical Application: Case Study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Patient Scenario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Mr. Thompson, 68-year-old male</a:t>
            </a:r>
          </a:p>
          <a:p>
            <a:pPr lvl="1">
              <a:defRPr sz="1600"/>
            </a:pPr>
            <a:r>
              <a:t>Admitted with community-acquired pneumonia</a:t>
            </a:r>
          </a:p>
          <a:p>
            <a:pPr lvl="1">
              <a:defRPr sz="1600"/>
            </a:pPr>
            <a:r>
              <a:t>Current status: Tachypneic, using accessory muscles</a:t>
            </a:r>
          </a:p>
          <a:p>
            <a:pPr lvl="1">
              <a:defRPr sz="1600"/>
            </a:pPr>
            <a:r>
              <a:t>ABG: pH 7.48, PaCO2 30, PaO2 58, HCO3 22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Questions:</a:t>
            </a:r>
          </a:p>
          <a:p>
            <a:pPr lvl="1">
              <a:defRPr sz="1600"/>
            </a:pPr>
            <a:r>
              <a:t>1. What type of acid-base disorder is present?</a:t>
            </a:r>
          </a:p>
          <a:p>
            <a:pPr lvl="1">
              <a:defRPr sz="1600"/>
            </a:pPr>
            <a:r>
              <a:t>2. What is the physiological explanation for the breathing pattern?</a:t>
            </a:r>
          </a:p>
          <a:p>
            <a:pPr lvl="1">
              <a:defRPr sz="1600"/>
            </a:pPr>
            <a:r>
              <a:t>3. Why is the PaO2 low despite increased ventilation?</a:t>
            </a:r>
          </a:p>
          <a:p>
            <a:pPr>
              <a:defRPr sz="1600"/>
            </a:pPr>
            <a:r>
              <a:t>4. What factors affect oxygen delivery to his tissues?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Discussion Points:</a:t>
            </a:r>
          </a:p>
          <a:p>
            <a:pPr lvl="1">
              <a:defRPr sz="1600"/>
            </a:pPr>
            <a:r>
              <a:t>Respiratory alkalosis from hypoxemic drive</a:t>
            </a:r>
          </a:p>
          <a:p>
            <a:pPr lvl="1">
              <a:defRPr sz="1600"/>
            </a:pPr>
            <a:r>
              <a:t>V/Q mismatch in pneumonia</a:t>
            </a:r>
          </a:p>
          <a:p>
            <a:pPr lvl="1">
              <a:defRPr sz="1600"/>
            </a:pPr>
            <a:r>
              <a:t>O2 delivery depends on cardiac output, Hgb, and saturation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Clinical Application: Case Study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99"/>
                </a:solidFill>
              </a:defRPr>
            </a:pPr>
            <a:r>
              <a:t>Patient Scenario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Mrs. Garcia, 72-year-old female with COPD</a:t>
            </a:r>
          </a:p>
          <a:p>
            <a:pPr lvl="1">
              <a:defRPr sz="1600"/>
            </a:pPr>
            <a:r>
              <a:t>Chronic CO2 retention (baseline PaCO2 55)</a:t>
            </a:r>
          </a:p>
          <a:p>
            <a:pPr lvl="1">
              <a:defRPr sz="1600"/>
            </a:pPr>
            <a:r>
              <a:t>Presents with exacerbation</a:t>
            </a:r>
          </a:p>
          <a:p>
            <a:pPr lvl="1">
              <a:defRPr sz="1600"/>
            </a:pPr>
            <a:r>
              <a:t>ABG: pH 7.30, PaCO2 70, PaO2 48, HCO3 34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Questions:</a:t>
            </a:r>
          </a:p>
          <a:p>
            <a:pPr lvl="1">
              <a:defRPr sz="1600"/>
            </a:pPr>
            <a:r>
              <a:t>1. What is her acid-base status?</a:t>
            </a:r>
          </a:p>
          <a:p>
            <a:pPr lvl="1">
              <a:defRPr sz="1600"/>
            </a:pPr>
            <a:r>
              <a:t>2. Why is the HCO3 elevated?</a:t>
            </a:r>
          </a:p>
          <a:p>
            <a:pPr lvl="1">
              <a:defRPr sz="1600"/>
            </a:pPr>
            <a:r>
              <a:t>3. What is the risk of giving high-flow oxygen?</a:t>
            </a:r>
          </a:p>
          <a:p>
            <a:pPr>
              <a:defRPr sz="1600"/>
            </a:pPr>
            <a:r>
              <a:t>4. How should oxygen be administered?</a:t>
            </a:r>
          </a:p>
          <a:p>
            <a:pPr>
              <a:defRPr b="1" sz="2000">
                <a:solidFill>
                  <a:srgbClr val="006699"/>
                </a:solidFill>
              </a:defRPr>
            </a:pPr>
            <a:r>
              <a:t>Discussion Points:</a:t>
            </a:r>
          </a:p>
          <a:p>
            <a:pPr lvl="1">
              <a:defRPr sz="1600"/>
            </a:pPr>
            <a:r>
              <a:t>Acute-on-chronic respiratory acidosis</a:t>
            </a:r>
          </a:p>
          <a:p>
            <a:pPr lvl="1">
              <a:defRPr sz="1600"/>
            </a:pPr>
            <a:r>
              <a:t>Renal compensation (chronic metabolic alkalosis)</a:t>
            </a:r>
          </a:p>
          <a:p>
            <a:pPr lvl="1">
              <a:defRPr sz="1600"/>
            </a:pPr>
            <a:r>
              <a:t>Risk of suppressing hypoxic drive</a:t>
            </a:r>
          </a:p>
          <a:p>
            <a:pPr lvl="1">
              <a:defRPr sz="1600"/>
            </a:pPr>
            <a:r>
              <a:t>Controlled low-flow oxygen (target SpO2 88-92%)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600"/>
            </a:pPr>
            <a:r>
              <a:t>1. Anatomy Knowledge is Clinical</a:t>
            </a:r>
          </a:p>
          <a:p>
            <a:pPr lvl="1">
              <a:defRPr sz="1600"/>
            </a:pPr>
            <a:r>
              <a:t>Right mainstem intubation risk</a:t>
            </a:r>
          </a:p>
          <a:p>
            <a:pPr lvl="1">
              <a:defRPr sz="1600"/>
            </a:pPr>
            <a:r>
              <a:t>Carina sensitivity for cough</a:t>
            </a:r>
          </a:p>
          <a:p>
            <a:pPr lvl="1">
              <a:defRPr sz="1600"/>
            </a:pPr>
            <a:r>
              <a:t>Pleural space importance</a:t>
            </a:r>
          </a:p>
          <a:p>
            <a:pPr lvl="1">
              <a:defRPr sz="1600"/>
            </a:pPr>
            <a:r>
              <a:t>2. Ventilation Depends on Pressure Gradients</a:t>
            </a:r>
          </a:p>
          <a:p>
            <a:pPr lvl="1">
              <a:defRPr sz="1600"/>
            </a:pPr>
            <a:r>
              <a:t>Boyle's Law governs breathing mechanics</a:t>
            </a:r>
          </a:p>
          <a:p>
            <a:pPr lvl="1">
              <a:defRPr sz="1600"/>
            </a:pPr>
            <a:r>
              <a:t>Compliance and resistance determine work of breathing</a:t>
            </a:r>
          </a:p>
          <a:p>
            <a:pPr lvl="1">
              <a:defRPr sz="1600"/>
            </a:pPr>
            <a:r>
              <a:t>3. Gas Exchange Requires:</a:t>
            </a:r>
          </a:p>
          <a:p>
            <a:pPr lvl="1">
              <a:defRPr sz="1600"/>
            </a:pPr>
            <a:r>
              <a:t>Intact alveolar-capillary membrane</a:t>
            </a:r>
          </a:p>
          <a:p>
            <a:pPr lvl="1">
              <a:defRPr sz="1600"/>
            </a:pPr>
            <a:r>
              <a:t>Adequate surface area</a:t>
            </a:r>
          </a:p>
          <a:p>
            <a:pPr lvl="1">
              <a:defRPr sz="1600"/>
            </a:pPr>
            <a:r>
              <a:t>Proper ventilation-perfusion matching</a:t>
            </a:r>
          </a:p>
          <a:p>
            <a:pPr>
              <a:defRPr sz="1600"/>
            </a:pPr>
            <a:r>
              <a:t>4. Oxygen Transport is Multi-Step:</a:t>
            </a:r>
          </a:p>
          <a:p>
            <a:pPr lvl="1">
              <a:defRPr sz="1600"/>
            </a:pPr>
            <a:r>
              <a:t>Alveolar ventilation</a:t>
            </a:r>
          </a:p>
          <a:p>
            <a:pPr lvl="1">
              <a:defRPr sz="1600"/>
            </a:pPr>
            <a:r>
              <a:t>Diffusion across membrane</a:t>
            </a:r>
          </a:p>
          <a:p>
            <a:pPr lvl="1">
              <a:defRPr sz="1600"/>
            </a:pPr>
            <a:r>
              <a:t>Hemoglobin binding</a:t>
            </a:r>
          </a:p>
          <a:p>
            <a:pPr lvl="1">
              <a:defRPr sz="1600"/>
            </a:pPr>
            <a:r>
              <a:t>Tissue release</a:t>
            </a:r>
          </a:p>
          <a:p>
            <a:pPr>
              <a:defRPr sz="1600"/>
            </a:pPr>
            <a:r>
              <a:t>5. Breathing Control is Integrated:</a:t>
            </a:r>
          </a:p>
          <a:p>
            <a:pPr lvl="1">
              <a:defRPr sz="1600"/>
            </a:pPr>
            <a:r>
              <a:t>Neural centers generate rhythm</a:t>
            </a:r>
          </a:p>
          <a:p>
            <a:pPr lvl="1">
              <a:defRPr sz="1600"/>
            </a:pPr>
            <a:r>
              <a:t>Chemical receptors provide feedback</a:t>
            </a:r>
          </a:p>
          <a:p>
            <a:pPr lvl="1">
              <a:defRPr sz="1600"/>
            </a:pPr>
            <a:r>
              <a:t>Reflexes protect the lungs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600"/>
            </a:pPr>
            <a:r>
              <a:t>1. Kacmarek RM, Stoller JK, Heuer AJ. Egan's Fundamentals of Respiratory Care. 12th ed. Elsevier; 2021.</a:t>
            </a:r>
          </a:p>
          <a:p>
            <a:pPr lvl="1">
              <a:defRPr sz="1600"/>
            </a:pPr>
            <a:r>
              <a:t>2. West JB. Respiratory Physiology: The Essentials. 10th ed. Wolters Kluwer; 2016.</a:t>
            </a:r>
          </a:p>
          <a:p>
            <a:pPr lvl="1">
              <a:defRPr sz="1600"/>
            </a:pPr>
            <a:r>
              <a:t>3. Levitzky MG. Pulmonary Physiology. 9th ed. McGraw-Hill; 2018.</a:t>
            </a:r>
          </a:p>
          <a:p>
            <a:pPr>
              <a:defRPr sz="1600"/>
            </a:pPr>
            <a:r>
              <a:t>4. Berne RM, Levy MN. Principles of Physiology. 4th ed. Mosby; 2006.</a:t>
            </a:r>
          </a:p>
          <a:p>
            <a:pPr>
              <a:defRPr sz="1600"/>
            </a:pPr>
            <a:r>
              <a:t>5. AARC Clinical Practice Guidelines. Available at: https://www.aarc.org/resource/clinical-practice-guidelines/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Respiratory Care Department</a:t>
            </a:r>
          </a:p>
          <a:p/>
          <a:p>
            <a:r>
              <a:t>Understanding the Science Behind the Care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