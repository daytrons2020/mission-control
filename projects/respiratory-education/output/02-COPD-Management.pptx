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COPD is a major cause of morbidity and mortality worldwide. Understanding its management is essential for respiratory therapists.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GOLD definition emphasizes that COPD is preventable and treatable, even though not curable. Smoking cessation is the most important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classic phenotypes are less distinct in practice. Most patients exhibit features of both emphysema and chronic bronchitis.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COPD is a major public health burden. Many cases remain undiagnosed until significant lung function is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Chronic inflammation leads to structural changes in both small and large airways, resulting in fixed airflow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Emphysema patterns differ based on etiology. Understanding these patterns helps identify underlying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V/Q mismatch is the primary cause of hypoxemia in COPD. As disease progresses, hypercapnia and pulmonary hypertension develop.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Dyspnea that progressively worsens is the hallmark symptom. Physical findings correlate with disease severity.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Spirometry is essential for diagnosis. The FEV1/FVC ratio defines airflow limitation, and FEV1 determines severity.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 classification guides treatment decisions. However, symptoms and exacerbation history are equally important for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ABE assessment framework combines symptoms and exacerbation risk to guide initial pharmacological treatment.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Bronchodilators are the foundation of COPD treatment. Long-acting agents are used for maintenance, short-acting for rescue.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ICS should be reserved for patients with frequent exacerbations or high eosinophil counts due to pneumonia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adjunctive therapies may benefit specific patient populations. Consider when standard therapy is insufficient.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Smoking cessation is the only intervention proven to slow COPD progression. Every patient who smokes should be offered cessation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Pulmonary rehabilitation improves symptoms and quality of life. All symptomatic patients should be referred.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LTOT improves survival in hypoxemic patients. The 15-hour minimum is essential for mortality 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Vaccinations are an essential part of COPD management to prevent exacerbations.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Exacerbations are a major cause of morbidity and mortality. Prevention and prompt treatment are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Assessment determines severity and guides treatment. Look for complications like pneumonia or pneumothorax.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exacerbation treatment includes bronchodilators, corticosteroids, and antibiotics when indicated. The 5-day steroid course is evidence-based.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Controlled oxygen therapy is essential in COPD exacerbations. Target 88-92% to avoid suppressing hypoxic 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NIV is first-line therapy for COPD exacerbations with respiratory acidosis. It reduces intubation and mortality.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low pressures and titrate up. Monitor ABG at 1-2 hours to assess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Early recognition of NIV failure is critical. Don't delay intubation when indicated.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Patient education and self-management plans reduce exacerbations and improve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Inhaler technique must be assessed at every visit. Spacers improve delivery and reduce side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typical moderate COPD exacerbation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Moderate exacerbations require antibiotics and steroids. Always use controlled oxygen in COPD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patient has acute-on-chronic respiratory acidosis and is a candidate for NIV.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patient meets all criteria for NIV. Start with low pressures and titrate based on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these key points. COPD management requires a comprehensive approach addressing all aspects of the disease.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 reports are updated annually and should be consulted for the most current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Chronic Obstructive Pulmonary Disease (COPD)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Pathophysiology, Management, and Patient Education</a:t>
            </a:r>
          </a:p>
          <a:p/>
          <a:p>
            <a:r>
              <a:t>Presenter: [Name], RRT</a:t>
            </a:r>
          </a:p>
          <a:p>
            <a:r>
              <a:t>Date: [Date]</a:t>
            </a:r>
          </a:p>
          <a:p>
            <a:r>
              <a:t>Department: Respiratory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By the end of this session, participants will be able to:</a:t>
            </a:r>
          </a:p>
          <a:p>
            <a:pPr lvl="1">
              <a:defRPr sz="1600"/>
            </a:pPr>
            <a:r>
              <a:t>Define COPD and differentiate between emphysema and chronic bronchitis</a:t>
            </a:r>
          </a:p>
          <a:p>
            <a:pPr lvl="1">
              <a:defRPr sz="1600"/>
            </a:pPr>
            <a:r>
              <a:t>Explain the pathophysiology of airflow limitation in COPD</a:t>
            </a:r>
          </a:p>
          <a:p>
            <a:pPr lvl="1">
              <a:defRPr sz="1600"/>
            </a:pPr>
            <a:r>
              <a:t>Identify the stages of COPD using GOLD criteria</a:t>
            </a:r>
          </a:p>
          <a:p>
            <a:pPr lvl="1">
              <a:defRPr sz="1600"/>
            </a:pPr>
            <a:r>
              <a:t>Describe pharmacological and non-pharmacological management strategies</a:t>
            </a:r>
          </a:p>
          <a:p>
            <a:pPr lvl="1">
              <a:defRPr sz="1600"/>
            </a:pPr>
            <a:r>
              <a:t>Manage acute exacerbations including oxygen therapy and NIV</a:t>
            </a:r>
          </a:p>
          <a:p>
            <a:pPr lvl="1">
              <a:defRPr sz="1600"/>
            </a:pPr>
            <a:r>
              <a:t>Develop patient education strategies for smoking cessation and self-management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Definition of COPD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Global Initiative for Chronic Obstructive Lung Disease (GOLD)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Definition:</a:t>
            </a:r>
          </a:p>
          <a:p>
            <a:pPr>
              <a:defRPr sz="1600"/>
            </a:pPr>
            <a:r>
              <a:t>"COPD is a common, preventable, and treatable disease characterized by persistent respiratory symptoms and airflow limitation due to airway and/or alveolar abnormalities usually caused by significant exposure to noxious particles or gases."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Key Characteristics:</a:t>
            </a:r>
          </a:p>
          <a:p>
            <a:pPr lvl="1">
              <a:defRPr sz="1600"/>
            </a:pPr>
            <a:r>
              <a:t>Preventable: Primary prevention through smoking cessation</a:t>
            </a:r>
          </a:p>
          <a:p>
            <a:pPr lvl="1">
              <a:defRPr sz="1600"/>
            </a:pPr>
            <a:r>
              <a:t>Treatable: Not curable, but manageable</a:t>
            </a:r>
          </a:p>
          <a:p>
            <a:pPr lvl="1">
              <a:defRPr sz="1600"/>
            </a:pPr>
            <a:r>
              <a:t>Persistent: Chronic, progressive condition</a:t>
            </a:r>
          </a:p>
          <a:p>
            <a:pPr lvl="1">
              <a:defRPr sz="1600"/>
            </a:pPr>
            <a:r>
              <a:t>Airflow limitation: Not fully reversible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Types of COPD: Emphysema vs. Chronic Bronchitis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Emphysema ("Pink Puffer")</a:t>
            </a:r>
          </a:p>
          <a:p>
            <a:pPr lvl="1">
              <a:defRPr sz="1600"/>
            </a:pPr>
            <a:r>
              <a:t>Destruction of alveolar walls</a:t>
            </a:r>
          </a:p>
          <a:p>
            <a:pPr lvl="1">
              <a:defRPr sz="1600"/>
            </a:pPr>
            <a:r>
              <a:t>Loss of elastic recoil</a:t>
            </a:r>
          </a:p>
          <a:p>
            <a:pPr lvl="1">
              <a:defRPr sz="1600"/>
            </a:pPr>
            <a:r>
              <a:t>Increased compliance</a:t>
            </a:r>
          </a:p>
          <a:p>
            <a:pPr lvl="1">
              <a:defRPr sz="1600"/>
            </a:pPr>
            <a:r>
              <a:t>Panacinar or centriacinar patterns</a:t>
            </a:r>
          </a:p>
          <a:p>
            <a:pPr lvl="1">
              <a:defRPr sz="1600"/>
            </a:pPr>
            <a:r>
              <a:t>Dyspnea predominant symptom</a:t>
            </a:r>
          </a:p>
          <a:p>
            <a:pPr lvl="1">
              <a:defRPr sz="1600"/>
            </a:pPr>
            <a:r>
              <a:t>Thin, non-cyanotic appearance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Chronic Bronchitis ("Blue Bloater")</a:t>
            </a:r>
          </a:p>
          <a:p>
            <a:pPr lvl="1">
              <a:defRPr sz="1600"/>
            </a:pPr>
            <a:r>
              <a:t>Productive cough for 3+ months/year for 2+ years</a:t>
            </a:r>
          </a:p>
          <a:p>
            <a:pPr lvl="1">
              <a:defRPr sz="1600"/>
            </a:pPr>
            <a:r>
              <a:t>Mucus hypersecretion</a:t>
            </a:r>
          </a:p>
          <a:p>
            <a:pPr lvl="1">
              <a:defRPr sz="1600"/>
            </a:pPr>
            <a:r>
              <a:t>Airway inflammation</a:t>
            </a:r>
          </a:p>
          <a:p>
            <a:pPr lvl="1">
              <a:defRPr sz="1600"/>
            </a:pPr>
            <a:r>
              <a:t>Cyanosis and edema common</a:t>
            </a:r>
          </a:p>
          <a:p>
            <a:pPr lvl="1">
              <a:defRPr sz="1600"/>
            </a:pPr>
            <a:r>
              <a:t>Recurrent infections</a:t>
            </a:r>
          </a:p>
          <a:p>
            <a:pPr lvl="1">
              <a:defRPr sz="1600"/>
            </a:pPr>
            <a:r>
              <a:t>Obesity common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Note: Most patients have features of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Epidemiology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Global Statistics:</a:t>
            </a:r>
          </a:p>
          <a:p>
            <a:pPr lvl="1">
              <a:defRPr sz="1600"/>
            </a:pPr>
            <a:r>
              <a:t>Third leading cause of death worldwide</a:t>
            </a:r>
          </a:p>
          <a:p>
            <a:pPr lvl="1">
              <a:defRPr sz="1600"/>
            </a:pPr>
            <a:r>
              <a:t>328 million people affected globally</a:t>
            </a:r>
          </a:p>
          <a:p>
            <a:pPr lvl="1">
              <a:defRPr sz="1600"/>
            </a:pPr>
            <a:r>
              <a:t>Prevalence increasing in developing nations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United States:</a:t>
            </a:r>
          </a:p>
          <a:p>
            <a:pPr lvl="1">
              <a:defRPr sz="1600"/>
            </a:pPr>
            <a:r>
              <a:t>16 million diagnosed (estimated 12 million undiagnosed)</a:t>
            </a:r>
          </a:p>
          <a:p>
            <a:pPr lvl="1">
              <a:defRPr sz="1600"/>
            </a:pPr>
            <a:r>
              <a:t>$50 billion annual healthcare costs</a:t>
            </a:r>
          </a:p>
          <a:p>
            <a:pPr lvl="1">
              <a:defRPr sz="1600"/>
            </a:pPr>
            <a:r>
              <a:t>Leading cause of hospital readmissions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Risk Factors:</a:t>
            </a:r>
          </a:p>
          <a:p>
            <a:pPr lvl="1">
              <a:defRPr sz="1600"/>
            </a:pPr>
            <a:r>
              <a:t>Tobacco smoking (85-90% of cases)</a:t>
            </a:r>
          </a:p>
          <a:p>
            <a:pPr lvl="1">
              <a:defRPr sz="1600"/>
            </a:pPr>
            <a:r>
              <a:t>Alpha-1 antitrypsin deficiency</a:t>
            </a:r>
          </a:p>
          <a:p>
            <a:pPr lvl="1">
              <a:defRPr sz="1600"/>
            </a:pPr>
            <a:r>
              <a:t>Occupational exposures</a:t>
            </a:r>
          </a:p>
          <a:p>
            <a:pPr lvl="1">
              <a:defRPr sz="1600"/>
            </a:pPr>
            <a:r>
              <a:t>Biomass fuel exposure</a:t>
            </a:r>
          </a:p>
          <a:p>
            <a:pPr lvl="1">
              <a:defRPr sz="1600"/>
            </a:pPr>
            <a:r>
              <a:t>Air pollution</a:t>
            </a:r>
          </a:p>
          <a:p>
            <a:pPr lvl="1">
              <a:defRPr sz="1600"/>
            </a:pPr>
            <a:r>
              <a:t>History of childhood respiratory infections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Pathophysiology: Airway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Chronic Inflammation and Remodeling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Small Airways (&lt;2mm)</a:t>
            </a:r>
          </a:p>
          <a:p>
            <a:pPr lvl="1">
              <a:defRPr sz="1600"/>
            </a:pPr>
            <a:r>
              <a:t>Inflammation of bronchioles</a:t>
            </a:r>
          </a:p>
          <a:p>
            <a:pPr lvl="1">
              <a:defRPr sz="1600"/>
            </a:pPr>
            <a:r>
              <a:t>Fibrosis and narrowing</a:t>
            </a:r>
          </a:p>
          <a:p>
            <a:pPr lvl="1">
              <a:defRPr sz="1600"/>
            </a:pPr>
            <a:r>
              <a:t>Excess mucus production</a:t>
            </a:r>
          </a:p>
          <a:p>
            <a:pPr lvl="1">
              <a:defRPr sz="1600"/>
            </a:pPr>
            <a:r>
              <a:t>Loss of tethering support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Large Airways</a:t>
            </a:r>
          </a:p>
          <a:p>
            <a:pPr lvl="1">
              <a:defRPr sz="1600"/>
            </a:pPr>
            <a:r>
              <a:t>Mucus gland hypertrophy</a:t>
            </a:r>
          </a:p>
          <a:p>
            <a:pPr lvl="1">
              <a:defRPr sz="1600"/>
            </a:pPr>
            <a:r>
              <a:t>Goblet cell hyperplasia</a:t>
            </a:r>
          </a:p>
          <a:p>
            <a:pPr lvl="1">
              <a:defRPr sz="1600"/>
            </a:pPr>
            <a:r>
              <a:t>Squamous metaplasia</a:t>
            </a:r>
          </a:p>
          <a:p>
            <a:pPr lvl="1">
              <a:defRPr sz="1600"/>
            </a:pPr>
            <a:r>
              <a:t>Cilia dysfunction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Result:</a:t>
            </a:r>
          </a:p>
          <a:p>
            <a:pPr lvl="1">
              <a:defRPr sz="1600"/>
            </a:pPr>
            <a:r>
              <a:t>Fixed airflow limitation</a:t>
            </a:r>
          </a:p>
          <a:p>
            <a:pPr lvl="1">
              <a:defRPr sz="1600"/>
            </a:pPr>
            <a:r>
              <a:t>Increased airway resistance</a:t>
            </a:r>
          </a:p>
          <a:p>
            <a:pPr lvl="1">
              <a:defRPr sz="1600"/>
            </a:pPr>
            <a:r>
              <a:t>Premature airway closure</a:t>
            </a:r>
          </a:p>
          <a:p>
            <a:pPr lvl="1">
              <a:defRPr sz="1600"/>
            </a:pPr>
            <a:r>
              <a:t>Air trapping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Pathophysiology: Parenchymal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Emphysema Patterns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Centriacinar (Centrilobular)</a:t>
            </a:r>
          </a:p>
          <a:p>
            <a:pPr lvl="1">
              <a:defRPr sz="1600"/>
            </a:pPr>
            <a:r>
              <a:t>Central portion of acinus affected</a:t>
            </a:r>
          </a:p>
          <a:p>
            <a:pPr lvl="1">
              <a:defRPr sz="1600"/>
            </a:pPr>
            <a:r>
              <a:t>Upper lobes predominate</a:t>
            </a:r>
          </a:p>
          <a:p>
            <a:pPr lvl="1">
              <a:defRPr sz="1600"/>
            </a:pPr>
            <a:r>
              <a:t>Associated with smoking</a:t>
            </a:r>
          </a:p>
          <a:p>
            <a:pPr lvl="1">
              <a:defRPr sz="1600"/>
            </a:pPr>
            <a:r>
              <a:t>Most common type (95%)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Panacinar (Panlobular)</a:t>
            </a:r>
          </a:p>
          <a:p>
            <a:pPr lvl="1">
              <a:defRPr sz="1600"/>
            </a:pPr>
            <a:r>
              <a:t>Entire acinus affected</a:t>
            </a:r>
          </a:p>
          <a:p>
            <a:pPr lvl="1">
              <a:defRPr sz="1600"/>
            </a:pPr>
            <a:r>
              <a:t>Lower lobes predominate</a:t>
            </a:r>
          </a:p>
          <a:p>
            <a:pPr lvl="1">
              <a:defRPr sz="1600"/>
            </a:pPr>
            <a:r>
              <a:t>Associated with alpha-1 antitrypsin deficiency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Pathological Process:</a:t>
            </a:r>
          </a:p>
          <a:p>
            <a:pPr lvl="1">
              <a:defRPr sz="1600"/>
            </a:pPr>
            <a:r>
              <a:t>Imbalance of proteases and antiproteases</a:t>
            </a:r>
          </a:p>
          <a:p>
            <a:pPr lvl="1">
              <a:defRPr sz="1600"/>
            </a:pPr>
            <a:r>
              <a:t>Elastin destruction</a:t>
            </a:r>
          </a:p>
          <a:p>
            <a:pPr lvl="1">
              <a:defRPr sz="1600"/>
            </a:pPr>
            <a:r>
              <a:t>Loss of alveolar attachments</a:t>
            </a:r>
          </a:p>
          <a:p>
            <a:pPr lvl="1">
              <a:defRPr sz="1600"/>
            </a:pPr>
            <a:r>
              <a:t>Airspace enlargement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Pathophysiology: Physiological Consequences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Ventilation-Perfusion (V/Q) Mismatch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Mechanisms:</a:t>
            </a:r>
          </a:p>
          <a:p>
            <a:pPr lvl="1">
              <a:defRPr sz="1600"/>
            </a:pPr>
            <a:r>
              <a:t>Destruction of alveolar-capillary membrane</a:t>
            </a:r>
          </a:p>
          <a:p>
            <a:pPr lvl="1">
              <a:defRPr sz="1600"/>
            </a:pPr>
            <a:r>
              <a:t>Hypoxic vasoconstriction</a:t>
            </a:r>
          </a:p>
          <a:p>
            <a:pPr lvl="1">
              <a:defRPr sz="1600"/>
            </a:pPr>
            <a:r>
              <a:t>Reduced surface area for gas exchange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Consequences:</a:t>
            </a:r>
          </a:p>
          <a:p>
            <a:pPr lvl="1">
              <a:defRPr sz="1600"/>
            </a:pPr>
            <a:r>
              <a:t>Hypoxemia (low PaO2)</a:t>
            </a:r>
          </a:p>
          <a:p>
            <a:pPr lvl="1">
              <a:defRPr sz="1600"/>
            </a:pPr>
            <a:r>
              <a:t>Hypercapnia (elevated PaCO2) in advanced disease</a:t>
            </a:r>
          </a:p>
          <a:p>
            <a:pPr lvl="1">
              <a:defRPr sz="1600"/>
            </a:pPr>
            <a:r>
              <a:t>Pulmonary hypertension</a:t>
            </a:r>
          </a:p>
          <a:p>
            <a:pPr lvl="1">
              <a:defRPr sz="1600"/>
            </a:pPr>
            <a:r>
              <a:t>Cor pulmonale (right heart failure)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Compensatory Mechanisms:</a:t>
            </a:r>
          </a:p>
          <a:p>
            <a:pPr lvl="1">
              <a:defRPr sz="1600"/>
            </a:pPr>
            <a:r>
              <a:t>Increased respiratory rate</a:t>
            </a:r>
          </a:p>
          <a:p>
            <a:pPr lvl="1">
              <a:defRPr sz="1600"/>
            </a:pPr>
            <a:r>
              <a:t>Accessory muscle use</a:t>
            </a:r>
          </a:p>
          <a:p>
            <a:pPr lvl="1">
              <a:defRPr sz="1600"/>
            </a:pPr>
            <a:r>
              <a:t>Barrel chest (increased AP diameter)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Clinical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Cardinal Symptoms:</a:t>
            </a:r>
          </a:p>
          <a:p>
            <a:pPr lvl="1">
              <a:defRPr sz="1600"/>
            </a:pPr>
            <a:r>
              <a:t>Progressive dyspnea</a:t>
            </a:r>
          </a:p>
          <a:p>
            <a:pPr lvl="1">
              <a:defRPr sz="1600"/>
            </a:pPr>
            <a:r>
              <a:t>Chronic cough</a:t>
            </a:r>
          </a:p>
          <a:p>
            <a:pPr lvl="1">
              <a:defRPr sz="1600"/>
            </a:pPr>
            <a:r>
              <a:t>Sputum production</a:t>
            </a:r>
          </a:p>
          <a:p>
            <a:pPr lvl="1">
              <a:defRPr sz="1600"/>
            </a:pPr>
            <a:r>
              <a:t>Wheezing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Physical Examination:</a:t>
            </a:r>
          </a:p>
          <a:p>
            <a:pPr lvl="1">
              <a:defRPr sz="1600"/>
            </a:pPr>
            <a:r>
              <a:t>Prolonged expiratory phase</a:t>
            </a:r>
          </a:p>
          <a:p>
            <a:pPr lvl="1">
              <a:defRPr sz="1600"/>
            </a:pPr>
            <a:r>
              <a:t>Decreased breath sounds</a:t>
            </a:r>
          </a:p>
          <a:p>
            <a:pPr lvl="1">
              <a:defRPr sz="1600"/>
            </a:pPr>
            <a:r>
              <a:t>Wheezing or rhonchi</a:t>
            </a:r>
          </a:p>
          <a:p>
            <a:pPr lvl="1">
              <a:defRPr sz="1600"/>
            </a:pPr>
            <a:r>
              <a:t>Use of accessory muscles</a:t>
            </a:r>
          </a:p>
          <a:p>
            <a:pPr lvl="1">
              <a:defRPr sz="1600"/>
            </a:pPr>
            <a:r>
              <a:t>Pursed-lip breathing</a:t>
            </a:r>
          </a:p>
          <a:p>
            <a:pPr lvl="1">
              <a:defRPr sz="1600"/>
            </a:pPr>
            <a:r>
              <a:t>Barrel chest</a:t>
            </a:r>
          </a:p>
          <a:p>
            <a:pPr lvl="1">
              <a:defRPr sz="1600"/>
            </a:pPr>
            <a:r>
              <a:t>Digital clubbing (late sign)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Advanced Disease:</a:t>
            </a:r>
          </a:p>
          <a:p>
            <a:pPr lvl="1">
              <a:defRPr sz="1600"/>
            </a:pPr>
            <a:r>
              <a:t>Weight loss</a:t>
            </a:r>
          </a:p>
          <a:p>
            <a:pPr lvl="1">
              <a:defRPr sz="1600"/>
            </a:pPr>
            <a:r>
              <a:t>Cachexia</a:t>
            </a:r>
          </a:p>
          <a:p>
            <a:pPr lvl="1">
              <a:defRPr sz="1600"/>
            </a:pPr>
            <a:r>
              <a:t>Peripheral edema</a:t>
            </a:r>
          </a:p>
          <a:p>
            <a:pPr lvl="1">
              <a:defRPr sz="1600"/>
            </a:pPr>
            <a:r>
              <a:t>Cyanosis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Diagnostic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Pulmonary Function Tests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Spirometry (Required for Diagnosis)</a:t>
            </a:r>
          </a:p>
          <a:p>
            <a:pPr lvl="1">
              <a:defRPr sz="1600"/>
            </a:pPr>
            <a:r>
              <a:t>Post-bronchodilator FEV1/FVC &lt; 0.70 confirms airflow limitation</a:t>
            </a:r>
          </a:p>
          <a:p>
            <a:pPr lvl="1">
              <a:defRPr sz="1600"/>
            </a:pPr>
            <a:r>
              <a:t>FEV1 % predicted determines severity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Lung Volumes</a:t>
            </a:r>
          </a:p>
          <a:p>
            <a:pPr lvl="1">
              <a:defRPr sz="1600"/>
            </a:pPr>
            <a:r>
              <a:t>Increased total lung capacity (TLC)</a:t>
            </a:r>
          </a:p>
          <a:p>
            <a:pPr lvl="1">
              <a:defRPr sz="1600"/>
            </a:pPr>
            <a:r>
              <a:t>Increased residual volume (RV)</a:t>
            </a:r>
          </a:p>
          <a:p>
            <a:pPr lvl="1">
              <a:defRPr sz="1600"/>
            </a:pPr>
            <a:r>
              <a:t>Increased RV/TLC ratio (air trapping)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Diffusion Capacity (DLCO)</a:t>
            </a:r>
          </a:p>
          <a:p>
            <a:pPr lvl="1">
              <a:defRPr sz="1600"/>
            </a:pPr>
            <a:r>
              <a:t>Reduced in emphysema</a:t>
            </a:r>
          </a:p>
          <a:p>
            <a:pPr lvl="1">
              <a:defRPr sz="1600"/>
            </a:pPr>
            <a:r>
              <a:t>Normal or slightly reduced in chronic bronchitis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Arterial Blood Gas</a:t>
            </a:r>
          </a:p>
          <a:p>
            <a:pPr lvl="1">
              <a:defRPr sz="1600"/>
            </a:pPr>
            <a:r>
              <a:t>Hypoxemia (common)</a:t>
            </a:r>
          </a:p>
          <a:p>
            <a:pPr lvl="1">
              <a:defRPr sz="1600"/>
            </a:pPr>
            <a:r>
              <a:t>Hypercapnia (in advanced disease)</a:t>
            </a:r>
          </a:p>
          <a:p>
            <a:pPr lvl="1">
              <a:defRPr sz="1600"/>
            </a:pPr>
            <a:r>
              <a:t>Respiratory acidosis (chronic or acute-on-chronic)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GOLD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Severity Grading (Post-Bronchodilator FEV1)</a:t>
            </a:r>
          </a:p>
          <a:p>
            <a:pPr>
              <a:defRPr sz="1600"/>
            </a:pPr>
            <a:r>
              <a:t>| Stage | FEV1 % Predicted | Description |</a:t>
            </a:r>
          </a:p>
          <a:p>
            <a:pPr>
              <a:defRPr sz="1600"/>
            </a:pPr>
            <a:r>
              <a:t>|-------|-----------------|-------------|</a:t>
            </a:r>
          </a:p>
          <a:p>
            <a:pPr>
              <a:defRPr sz="1600"/>
            </a:pPr>
            <a:r>
              <a:t>| GOLD 1 | ≥80% | Mild |</a:t>
            </a:r>
          </a:p>
          <a:p>
            <a:pPr>
              <a:defRPr sz="1600"/>
            </a:pPr>
            <a:r>
              <a:t>| GOLD 2 | 50-79% | Moderate |</a:t>
            </a:r>
          </a:p>
          <a:p>
            <a:pPr>
              <a:defRPr sz="1600"/>
            </a:pPr>
            <a:r>
              <a:t>| GOLD 3 | 30-49% | Severe |</a:t>
            </a:r>
          </a:p>
          <a:p>
            <a:pPr>
              <a:defRPr sz="1600"/>
            </a:pPr>
            <a:r>
              <a:t>| GOLD 4 | &lt;30% | Very Severe |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Note: Symptoms and exacerbation history also guide treatment (ABE assessment).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GOLD Assessment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Combined Assessment (2024 Update)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Symptom Assessment:</a:t>
            </a:r>
          </a:p>
          <a:p>
            <a:pPr lvl="1">
              <a:defRPr sz="1600"/>
            </a:pPr>
            <a:r>
              <a:t>mMRC Dyspnea Scale (0-4)</a:t>
            </a:r>
          </a:p>
          <a:p>
            <a:pPr lvl="1">
              <a:defRPr sz="1600"/>
            </a:pPr>
            <a:r>
              <a:t>CAT Score (0-40)</a:t>
            </a:r>
          </a:p>
          <a:p>
            <a:pPr lvl="1">
              <a:defRPr sz="1600"/>
            </a:pPr>
            <a:r>
              <a:t>Group A: 0-1 symptoms</a:t>
            </a:r>
          </a:p>
          <a:p>
            <a:pPr lvl="1">
              <a:defRPr sz="1600"/>
            </a:pPr>
            <a:r>
              <a:t>Group B: ≥2 symptoms or mMRC ≥2</a:t>
            </a:r>
          </a:p>
          <a:p>
            <a:pPr lvl="1">
              <a:defRPr sz="1600"/>
            </a:pPr>
            <a:r>
              <a:t>Group E: Exacerbation history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Exacerbation History:</a:t>
            </a:r>
          </a:p>
          <a:p>
            <a:pPr lvl="1">
              <a:defRPr sz="1600"/>
            </a:pPr>
            <a:r>
              <a:t>Group E: ≥2 moderate exacerbations or ≥1 hospitalization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Combined Groups:</a:t>
            </a:r>
          </a:p>
          <a:p>
            <a:pPr lvl="1">
              <a:defRPr sz="1600"/>
            </a:pPr>
            <a:r>
              <a:t>A, B, E (with or without exacerbation risk)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Pharmacological Management: Bronchodilators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Mainstay of Therapy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Short-Acting Bronchodilators (Rescue)</a:t>
            </a:r>
          </a:p>
          <a:p>
            <a:pPr lvl="1">
              <a:defRPr sz="1600"/>
            </a:pPr>
            <a:r>
              <a:t>SABA: Albuterol, levalbuterol</a:t>
            </a:r>
          </a:p>
          <a:p>
            <a:pPr lvl="1">
              <a:defRPr sz="1600"/>
            </a:pPr>
            <a:r>
              <a:t>SAMA: Ipratropium bromide</a:t>
            </a:r>
          </a:p>
          <a:p>
            <a:pPr lvl="1">
              <a:defRPr sz="1600"/>
            </a:pPr>
            <a:r>
              <a:t>Use: PRN for symptom relief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Long-Acting Bronchodilators (Maintenance)</a:t>
            </a:r>
          </a:p>
          <a:p>
            <a:pPr lvl="1">
              <a:defRPr sz="1600"/>
            </a:pPr>
            <a:r>
              <a:t>LABA: Salmeterol, formoterol, indacaterol</a:t>
            </a:r>
          </a:p>
          <a:p>
            <a:pPr lvl="1">
              <a:defRPr sz="1600"/>
            </a:pPr>
            <a:r>
              <a:t>LAMA: Tiotropium, umeclidinium, glycopyrrolate</a:t>
            </a:r>
          </a:p>
          <a:p>
            <a:pPr lvl="1">
              <a:defRPr sz="1600"/>
            </a:pPr>
            <a:r>
              <a:t>Use: Daily for symptom control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Combination Therapy</a:t>
            </a:r>
          </a:p>
          <a:p>
            <a:pPr lvl="1">
              <a:defRPr sz="1600"/>
            </a:pPr>
            <a:r>
              <a:t>LABA/LAMA preferred over single agents</a:t>
            </a:r>
          </a:p>
          <a:p>
            <a:pPr lvl="1">
              <a:defRPr sz="1600"/>
            </a:pPr>
            <a:r>
              <a:t>SABA/SAMA for acute symptoms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Pharmacological Management: Inhaled Corticosteroids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Indications:</a:t>
            </a:r>
          </a:p>
          <a:p>
            <a:pPr lvl="1">
              <a:defRPr sz="1600"/>
            </a:pPr>
            <a:r>
              <a:t>History of exacerbations</a:t>
            </a:r>
          </a:p>
          <a:p>
            <a:pPr lvl="1">
              <a:defRPr sz="1600"/>
            </a:pPr>
            <a:r>
              <a:t>Asthma-COPD overlap</a:t>
            </a:r>
          </a:p>
          <a:p>
            <a:pPr lvl="1">
              <a:defRPr sz="1600"/>
            </a:pPr>
            <a:r>
              <a:t>Eosinophil count ≥300/μL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Risks:</a:t>
            </a:r>
          </a:p>
          <a:p>
            <a:pPr lvl="1">
              <a:defRPr sz="1600"/>
            </a:pPr>
            <a:r>
              <a:t>Pneumonia (increased risk)</a:t>
            </a:r>
          </a:p>
          <a:p>
            <a:pPr lvl="1">
              <a:defRPr sz="1600"/>
            </a:pPr>
            <a:r>
              <a:t>Oral candidiasis</a:t>
            </a:r>
          </a:p>
          <a:p>
            <a:pPr lvl="1">
              <a:defRPr sz="1600"/>
            </a:pPr>
            <a:r>
              <a:t>Hoarseness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Triple Therapy:</a:t>
            </a:r>
          </a:p>
          <a:p>
            <a:pPr lvl="1">
              <a:defRPr sz="1600"/>
            </a:pPr>
            <a:r>
              <a:t>ICS/LABA/LAMA for frequent exacerbators</a:t>
            </a:r>
          </a:p>
          <a:p>
            <a:pPr lvl="1">
              <a:defRPr sz="1600"/>
            </a:pPr>
            <a:r>
              <a:t>Examples: Trelegy, Breztri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Oral Corticosteroids:</a:t>
            </a:r>
          </a:p>
          <a:p>
            <a:pPr lvl="1">
              <a:defRPr sz="1600"/>
            </a:pPr>
            <a:r>
              <a:t>Acute exacerbations only</a:t>
            </a:r>
          </a:p>
          <a:p>
            <a:pPr lvl="1">
              <a:defRPr sz="1600"/>
            </a:pPr>
            <a:r>
              <a:t>Not for chronic use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Other Medications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Phosphodiesterase-4 Inhibitors</a:t>
            </a:r>
          </a:p>
          <a:p>
            <a:pPr lvl="1">
              <a:defRPr sz="1600"/>
            </a:pPr>
            <a:r>
              <a:t>Roflumilast (Daliresp)</a:t>
            </a:r>
          </a:p>
          <a:p>
            <a:pPr lvl="1">
              <a:defRPr sz="1600"/>
            </a:pPr>
            <a:r>
              <a:t>For severe COPD with chronic bronchitis</a:t>
            </a:r>
          </a:p>
          <a:p>
            <a:pPr lvl="1">
              <a:defRPr sz="1600"/>
            </a:pPr>
            <a:r>
              <a:t>Reduces exacerbations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Mucolytics</a:t>
            </a:r>
          </a:p>
          <a:p>
            <a:pPr lvl="1">
              <a:defRPr sz="1600"/>
            </a:pPr>
            <a:r>
              <a:t>Acetylcysteine, carbocysteine</a:t>
            </a:r>
          </a:p>
          <a:p>
            <a:pPr lvl="1">
              <a:defRPr sz="1600"/>
            </a:pPr>
            <a:r>
              <a:t>May reduce exacerbations</a:t>
            </a:r>
          </a:p>
          <a:p>
            <a:pPr lvl="1">
              <a:defRPr sz="1600"/>
            </a:pPr>
            <a:r>
              <a:t>Limited evidence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Antibiotics (Prophylactic)</a:t>
            </a:r>
          </a:p>
          <a:p>
            <a:pPr lvl="1">
              <a:defRPr sz="1600"/>
            </a:pPr>
            <a:r>
              <a:t>Azithromycin (250mg daily)</a:t>
            </a:r>
          </a:p>
          <a:p>
            <a:pPr lvl="1">
              <a:defRPr sz="1600"/>
            </a:pPr>
            <a:r>
              <a:t>For frequent exacerbators</a:t>
            </a:r>
          </a:p>
          <a:p>
            <a:pPr lvl="1">
              <a:defRPr sz="1600"/>
            </a:pPr>
            <a:r>
              <a:t>Monitor QT interval and hearing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Alpha-1 Antitrypsin Augmentation</a:t>
            </a:r>
          </a:p>
          <a:p>
            <a:pPr lvl="1">
              <a:defRPr sz="1600"/>
            </a:pPr>
            <a:r>
              <a:t>For AAT deficiency</a:t>
            </a:r>
          </a:p>
          <a:p>
            <a:pPr lvl="1">
              <a:defRPr sz="1600"/>
            </a:pPr>
            <a:r>
              <a:t>Weekly IV infusions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Non-Pharmacological Management: Smoking Cessation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Most Important Intervention!</a:t>
            </a:r>
          </a:p>
          <a:p>
            <a:pPr lvl="1">
              <a:defRPr sz="1600"/>
            </a:pPr>
            <a:r>
              <a:t>Only intervention that slows disease progression</a:t>
            </a:r>
          </a:p>
          <a:p>
            <a:pPr lvl="1">
              <a:defRPr sz="1600"/>
            </a:pPr>
            <a:r>
              <a:t>Reduces mortality</a:t>
            </a:r>
          </a:p>
          <a:p>
            <a:pPr lvl="1">
              <a:defRPr sz="1600"/>
            </a:pPr>
            <a:r>
              <a:t>Improves symptoms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Strategies:</a:t>
            </a:r>
          </a:p>
          <a:p>
            <a:pPr lvl="1">
              <a:defRPr sz="1600"/>
            </a:pPr>
            <a:r>
              <a:t>Behavioral counseling</a:t>
            </a:r>
          </a:p>
          <a:p>
            <a:pPr lvl="1">
              <a:defRPr sz="1600"/>
            </a:pPr>
            <a:r>
              <a:t>Nicotine replacement therapy</a:t>
            </a:r>
          </a:p>
          <a:p>
            <a:pPr lvl="1">
              <a:defRPr sz="1600"/>
            </a:pPr>
            <a:r>
              <a:t>Varenicline (Chantix)</a:t>
            </a:r>
          </a:p>
          <a:p>
            <a:pPr lvl="1">
              <a:defRPr sz="1600"/>
            </a:pPr>
            <a:r>
              <a:t>Bupropion (Zyban)</a:t>
            </a:r>
          </a:p>
          <a:p>
            <a:pPr lvl="1">
              <a:defRPr sz="1600"/>
            </a:pPr>
            <a:r>
              <a:t>Combination approaches most effective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5 A's Approach:</a:t>
            </a:r>
          </a:p>
          <a:p>
            <a:pPr lvl="1">
              <a:defRPr sz="1600"/>
            </a:pPr>
            <a:r>
              <a:t>1. Ask about tobacco use</a:t>
            </a:r>
          </a:p>
          <a:p>
            <a:pPr lvl="1">
              <a:defRPr sz="1600"/>
            </a:pPr>
            <a:r>
              <a:t>2. Advise to quit</a:t>
            </a:r>
          </a:p>
          <a:p>
            <a:pPr lvl="1">
              <a:defRPr sz="1600"/>
            </a:pPr>
            <a:r>
              <a:t>3. Assess willingness</a:t>
            </a:r>
          </a:p>
          <a:p>
            <a:pPr>
              <a:defRPr sz="1600"/>
            </a:pPr>
            <a:r>
              <a:t>4. Assist with quit plan</a:t>
            </a:r>
          </a:p>
          <a:p>
            <a:pPr>
              <a:defRPr sz="1600"/>
            </a:pPr>
            <a:r>
              <a:t>5. Arrange follow-up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Non-Pharmacological Management: Pulmonary Rehabilitation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Components:</a:t>
            </a:r>
          </a:p>
          <a:p>
            <a:pPr lvl="1">
              <a:defRPr sz="1600"/>
            </a:pPr>
            <a:r>
              <a:t>Exercise training</a:t>
            </a:r>
          </a:p>
          <a:p>
            <a:pPr lvl="1">
              <a:defRPr sz="1600"/>
            </a:pPr>
            <a:r>
              <a:t>Education</a:t>
            </a:r>
          </a:p>
          <a:p>
            <a:pPr lvl="1">
              <a:defRPr sz="1600"/>
            </a:pPr>
            <a:r>
              <a:t>Nutritional counseling</a:t>
            </a:r>
          </a:p>
          <a:p>
            <a:pPr lvl="1">
              <a:defRPr sz="1600"/>
            </a:pPr>
            <a:r>
              <a:t>Psychosocial support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Benefits:</a:t>
            </a:r>
          </a:p>
          <a:p>
            <a:pPr lvl="1">
              <a:defRPr sz="1600"/>
            </a:pPr>
            <a:r>
              <a:t>Improved exercise tolerance</a:t>
            </a:r>
          </a:p>
          <a:p>
            <a:pPr lvl="1">
              <a:defRPr sz="1600"/>
            </a:pPr>
            <a:r>
              <a:t>Reduced dyspnea</a:t>
            </a:r>
          </a:p>
          <a:p>
            <a:pPr lvl="1">
              <a:defRPr sz="1600"/>
            </a:pPr>
            <a:r>
              <a:t>Improved quality of life</a:t>
            </a:r>
          </a:p>
          <a:p>
            <a:pPr lvl="1">
              <a:defRPr sz="1600"/>
            </a:pPr>
            <a:r>
              <a:t>Reduced hospitalizations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Program Structure:</a:t>
            </a:r>
          </a:p>
          <a:p>
            <a:pPr lvl="1">
              <a:defRPr sz="1600"/>
            </a:pPr>
            <a:r>
              <a:t>6-12 weeks, 2-3 sessions/week</a:t>
            </a:r>
          </a:p>
          <a:p>
            <a:pPr lvl="1">
              <a:defRPr sz="1600"/>
            </a:pPr>
            <a:r>
              <a:t>Maintenance program after completion</a:t>
            </a:r>
          </a:p>
          <a:p>
            <a:pPr lvl="1">
              <a:defRPr sz="1600"/>
            </a:pPr>
            <a:r>
              <a:t>Refer all symptomatic patients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Non-Pharmacological Management: Oxygen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Indications (Long-term Oxygen Therapy - LTOT):</a:t>
            </a:r>
          </a:p>
          <a:p>
            <a:pPr lvl="1">
              <a:defRPr sz="1600"/>
            </a:pPr>
            <a:r>
              <a:t>PaO2 ≤55 mmHg or SaO2 ≤88%</a:t>
            </a:r>
          </a:p>
          <a:p>
            <a:pPr lvl="1">
              <a:defRPr sz="1600"/>
            </a:pPr>
            <a:r>
              <a:t>PaO2 56-59 mmHg with cor pulmonale or polycythemia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Goals:</a:t>
            </a:r>
          </a:p>
          <a:p>
            <a:pPr lvl="1">
              <a:defRPr sz="1600"/>
            </a:pPr>
            <a:r>
              <a:t>Maintain SaO2 ≥90% during rest, sleep, and exertion</a:t>
            </a:r>
          </a:p>
          <a:p>
            <a:pPr lvl="1">
              <a:defRPr sz="1600"/>
            </a:pPr>
            <a:r>
              <a:t>Minimum 15 hours/day for mortality benefit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Delivery Methods:</a:t>
            </a:r>
          </a:p>
          <a:p>
            <a:pPr lvl="1">
              <a:defRPr sz="1600"/>
            </a:pPr>
            <a:r>
              <a:t>Nasal cannula (most common)</a:t>
            </a:r>
          </a:p>
          <a:p>
            <a:pPr lvl="1">
              <a:defRPr sz="1600"/>
            </a:pPr>
            <a:r>
              <a:t>Oxygen concentrators (home)</a:t>
            </a:r>
          </a:p>
          <a:p>
            <a:pPr lvl="1">
              <a:defRPr sz="1600"/>
            </a:pPr>
            <a:r>
              <a:t>Liquid oxygen (portable)</a:t>
            </a:r>
          </a:p>
          <a:p>
            <a:pPr lvl="1">
              <a:defRPr sz="1600"/>
            </a:pPr>
            <a:r>
              <a:t>Compressed gas (backup)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Important: Use caution with high-flow oxygen in CO2 retainers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Non-Pharmacological Management: Vaccinations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Recommended Vaccines:</a:t>
            </a:r>
          </a:p>
          <a:p>
            <a:pPr lvl="1">
              <a:defRPr sz="1600"/>
            </a:pPr>
            <a:r>
              <a:t>Influenza: Annual</a:t>
            </a:r>
          </a:p>
          <a:p>
            <a:pPr lvl="1">
              <a:defRPr sz="1600"/>
            </a:pPr>
            <a:r>
              <a:t>Pneumococcal:</a:t>
            </a:r>
          </a:p>
          <a:p>
            <a:pPr lvl="1">
              <a:defRPr sz="1600"/>
            </a:pPr>
            <a:r>
              <a:t>PCV20 once, OR</a:t>
            </a:r>
          </a:p>
          <a:p>
            <a:pPr lvl="1">
              <a:defRPr sz="1600"/>
            </a:pPr>
            <a:r>
              <a:t>PCV15 followed by PPSV23</a:t>
            </a:r>
          </a:p>
          <a:p>
            <a:pPr lvl="1">
              <a:defRPr sz="1600"/>
            </a:pPr>
            <a:r>
              <a:t>COVID-19: Per current guidelines</a:t>
            </a:r>
          </a:p>
          <a:p>
            <a:pPr lvl="1">
              <a:defRPr sz="1600"/>
            </a:pPr>
            <a:r>
              <a:t>Tdap: One-time, then Td booster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Benefits:</a:t>
            </a:r>
          </a:p>
          <a:p>
            <a:pPr lvl="1">
              <a:defRPr sz="1600"/>
            </a:pPr>
            <a:r>
              <a:t>Reduce exacerbations</a:t>
            </a:r>
          </a:p>
          <a:p>
            <a:pPr lvl="1">
              <a:defRPr sz="1600"/>
            </a:pPr>
            <a:r>
              <a:t>Reduce hospitalizations</a:t>
            </a:r>
          </a:p>
          <a:p>
            <a:pPr lvl="1">
              <a:defRPr sz="1600"/>
            </a:pPr>
            <a:r>
              <a:t>Reduce mortality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Acute Exacerbations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Definition:</a:t>
            </a:r>
          </a:p>
          <a:p>
            <a:pPr>
              <a:defRPr sz="1600"/>
            </a:pPr>
            <a:r>
              <a:t>"An acute worsening of respiratory symptoms that results in additional therapy."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Common Triggers:</a:t>
            </a:r>
          </a:p>
          <a:p>
            <a:pPr lvl="1">
              <a:defRPr sz="1600"/>
            </a:pPr>
            <a:r>
              <a:t>Respiratory infections (viral or bacterial)</a:t>
            </a:r>
          </a:p>
          <a:p>
            <a:pPr lvl="1">
              <a:defRPr sz="1600"/>
            </a:pPr>
            <a:r>
              <a:t>Air pollution</a:t>
            </a:r>
          </a:p>
          <a:p>
            <a:pPr lvl="1">
              <a:defRPr sz="1600"/>
            </a:pPr>
            <a:r>
              <a:t>Non-adherence to therapy</a:t>
            </a:r>
          </a:p>
          <a:p>
            <a:pPr lvl="1">
              <a:defRPr sz="1600"/>
            </a:pPr>
            <a:r>
              <a:t>Heart failure</a:t>
            </a:r>
          </a:p>
          <a:p>
            <a:pPr lvl="1">
              <a:defRPr sz="1600"/>
            </a:pPr>
            <a:r>
              <a:t>Pulmonary embolism</a:t>
            </a:r>
          </a:p>
          <a:p>
            <a:pPr lvl="1">
              <a:defRPr sz="1600"/>
            </a:pPr>
            <a:r>
              <a:t>Pneumothorax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Classification:</a:t>
            </a:r>
          </a:p>
          <a:p>
            <a:pPr lvl="1">
              <a:defRPr sz="1600"/>
            </a:pPr>
            <a:r>
              <a:t>Mild: Treat with SABA only</a:t>
            </a:r>
          </a:p>
          <a:p>
            <a:pPr lvl="1">
              <a:defRPr sz="1600"/>
            </a:pPr>
            <a:r>
              <a:t>Moderate: Requires antibiotics and/or oral corticosteroids</a:t>
            </a:r>
          </a:p>
          <a:p>
            <a:pPr lvl="1">
              <a:defRPr sz="1600"/>
            </a:pPr>
            <a:r>
              <a:t>Severe: Requires hospitalization or ED visit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Exacerbation Management: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History:</a:t>
            </a:r>
          </a:p>
          <a:p>
            <a:pPr lvl="1">
              <a:defRPr sz="1600"/>
            </a:pPr>
            <a:r>
              <a:t>Baseline status vs. current</a:t>
            </a:r>
          </a:p>
          <a:p>
            <a:pPr lvl="1">
              <a:defRPr sz="1600"/>
            </a:pPr>
            <a:r>
              <a:t>Trigger identification</a:t>
            </a:r>
          </a:p>
          <a:p>
            <a:pPr lvl="1">
              <a:defRPr sz="1600"/>
            </a:pPr>
            <a:r>
              <a:t>Home medication use</a:t>
            </a:r>
          </a:p>
          <a:p>
            <a:pPr lvl="1">
              <a:defRPr sz="1600"/>
            </a:pPr>
            <a:r>
              <a:t>Prior intubations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Physical Examination:</a:t>
            </a:r>
          </a:p>
          <a:p>
            <a:pPr lvl="1">
              <a:defRPr sz="1600"/>
            </a:pPr>
            <a:r>
              <a:t>Work of breathing</a:t>
            </a:r>
          </a:p>
          <a:p>
            <a:pPr lvl="1">
              <a:defRPr sz="1600"/>
            </a:pPr>
            <a:r>
              <a:t>Ability to speak</a:t>
            </a:r>
          </a:p>
          <a:p>
            <a:pPr lvl="1">
              <a:defRPr sz="1600"/>
            </a:pPr>
            <a:r>
              <a:t>Mental status</a:t>
            </a:r>
          </a:p>
          <a:p>
            <a:pPr lvl="1">
              <a:defRPr sz="1600"/>
            </a:pPr>
            <a:r>
              <a:t>Cyanosis</a:t>
            </a:r>
          </a:p>
          <a:p>
            <a:pPr lvl="1">
              <a:defRPr sz="1600"/>
            </a:pPr>
            <a:r>
              <a:t>Accessory muscle use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Diagnostic Testing:</a:t>
            </a:r>
          </a:p>
          <a:p>
            <a:pPr lvl="1">
              <a:defRPr sz="1600"/>
            </a:pPr>
            <a:r>
              <a:t>ABG (if severe)</a:t>
            </a:r>
          </a:p>
          <a:p>
            <a:pPr lvl="1">
              <a:defRPr sz="1600"/>
            </a:pPr>
            <a:r>
              <a:t>Chest X-ray (rule out pneumonia, pneumothorax)</a:t>
            </a:r>
          </a:p>
          <a:p>
            <a:pPr lvl="1">
              <a:defRPr sz="1600"/>
            </a:pPr>
            <a:r>
              <a:t>ECG (rule out cardiac causes)</a:t>
            </a:r>
          </a:p>
          <a:p>
            <a:pPr lvl="1">
              <a:defRPr sz="1600"/>
            </a:pPr>
            <a:r>
              <a:t>Labs (CBC, BMP, sputum culture if indicated)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Exacerbation Management: Pharmacological 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Bronchodilators:</a:t>
            </a:r>
          </a:p>
          <a:p>
            <a:pPr lvl="1">
              <a:defRPr sz="1600"/>
            </a:pPr>
            <a:r>
              <a:t>Short-acting beta-agonists (albuterol)</a:t>
            </a:r>
          </a:p>
          <a:p>
            <a:pPr lvl="1">
              <a:defRPr sz="1600"/>
            </a:pPr>
            <a:r>
              <a:t>Short-acting anticholinergics (ipratropium)</a:t>
            </a:r>
          </a:p>
          <a:p>
            <a:pPr lvl="1">
              <a:defRPr sz="1600"/>
            </a:pPr>
            <a:r>
              <a:t>Nebulizer or MDI with spacer (equivalent efficacy)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Corticosteroids:</a:t>
            </a:r>
          </a:p>
          <a:p>
            <a:pPr lvl="1">
              <a:defRPr sz="1600"/>
            </a:pPr>
            <a:r>
              <a:t>Prednisone 40mg daily for 5 days (evidence-based)</a:t>
            </a:r>
          </a:p>
          <a:p>
            <a:pPr lvl="1">
              <a:defRPr sz="1600"/>
            </a:pPr>
            <a:r>
              <a:t>No taper needed for short course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Antibiotics (if bacterial infection suspected):</a:t>
            </a:r>
          </a:p>
          <a:p>
            <a:pPr lvl="1">
              <a:defRPr sz="1600"/>
            </a:pPr>
            <a:r>
              <a:t>Amoxicillin-clavulanate</a:t>
            </a:r>
          </a:p>
          <a:p>
            <a:pPr lvl="1">
              <a:defRPr sz="1600"/>
            </a:pPr>
            <a:r>
              <a:t>Doxycycline</a:t>
            </a:r>
          </a:p>
          <a:p>
            <a:pPr lvl="1">
              <a:defRPr sz="1600"/>
            </a:pPr>
            <a:r>
              <a:t>Azithromycin</a:t>
            </a:r>
          </a:p>
          <a:p>
            <a:pPr lvl="1">
              <a:defRPr sz="1600"/>
            </a:pPr>
            <a:r>
              <a:t>Respiratory fluoroquinolone (severe)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Exacerbation Management: Oxygen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Goals:</a:t>
            </a:r>
          </a:p>
          <a:p>
            <a:pPr lvl="1">
              <a:defRPr sz="1600"/>
            </a:pPr>
            <a:r>
              <a:t>Maintain SpO2 88-92%</a:t>
            </a:r>
          </a:p>
          <a:p>
            <a:pPr lvl="1">
              <a:defRPr sz="1600"/>
            </a:pPr>
            <a:r>
              <a:t>Avoid hyperoxia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Rationale:</a:t>
            </a:r>
          </a:p>
          <a:p>
            <a:pPr lvl="1">
              <a:defRPr sz="1600"/>
            </a:pPr>
            <a:r>
              <a:t>Chronic CO2 retainers have hypoxic drive</a:t>
            </a:r>
          </a:p>
          <a:p>
            <a:pPr lvl="1">
              <a:defRPr sz="1600"/>
            </a:pPr>
            <a:r>
              <a:t>High-flow oxygen can worsen hypercapnia</a:t>
            </a:r>
          </a:p>
          <a:p>
            <a:pPr lvl="1">
              <a:defRPr sz="1600"/>
            </a:pPr>
            <a:r>
              <a:t>Monitor for CO2 narcosis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Monitoring:</a:t>
            </a:r>
          </a:p>
          <a:p>
            <a:pPr lvl="1">
              <a:defRPr sz="1600"/>
            </a:pPr>
            <a:r>
              <a:t>Pulse oximetry</a:t>
            </a:r>
          </a:p>
          <a:p>
            <a:pPr lvl="1">
              <a:defRPr sz="1600"/>
            </a:pPr>
            <a:r>
              <a:t>ABG if concern for hypercapnia</a:t>
            </a:r>
          </a:p>
          <a:p>
            <a:pPr lvl="1">
              <a:defRPr sz="1600"/>
            </a:pPr>
            <a:r>
              <a:t>Mental status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Warning Signs of CO2 Retention:</a:t>
            </a:r>
          </a:p>
          <a:p>
            <a:pPr lvl="1">
              <a:defRPr sz="1600"/>
            </a:pPr>
            <a:r>
              <a:t>Decreased level of consciousness</a:t>
            </a:r>
          </a:p>
          <a:p>
            <a:pPr lvl="1">
              <a:defRPr sz="1600"/>
            </a:pPr>
            <a:r>
              <a:t>Headache</a:t>
            </a:r>
          </a:p>
          <a:p>
            <a:pPr lvl="1">
              <a:defRPr sz="1600"/>
            </a:pPr>
            <a:r>
              <a:t>Flapping tremor (asterixis)</a:t>
            </a:r>
          </a:p>
          <a:p>
            <a:pPr lvl="1">
              <a:defRPr sz="1600"/>
            </a:pPr>
            <a:r>
              <a:t>Acidosis on ABG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Exacerbation Management: Noninvasive Ventilation (NIV)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Indications:</a:t>
            </a:r>
          </a:p>
          <a:p>
            <a:pPr lvl="1">
              <a:defRPr sz="1600"/>
            </a:pPr>
            <a:r>
              <a:t>Acute respiratory acidosis (pH ≤7.35, PaCO2 ≥45)</a:t>
            </a:r>
          </a:p>
          <a:p>
            <a:pPr lvl="1">
              <a:defRPr sz="1600"/>
            </a:pPr>
            <a:r>
              <a:t>Severe dyspnea with clinical signs</a:t>
            </a:r>
          </a:p>
          <a:p>
            <a:pPr lvl="1">
              <a:defRPr sz="1600"/>
            </a:pPr>
            <a:r>
              <a:t>Persistent hypoxemia despite supplemental O2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Benefits:</a:t>
            </a:r>
          </a:p>
          <a:p>
            <a:pPr lvl="1">
              <a:defRPr sz="1600"/>
            </a:pPr>
            <a:r>
              <a:t>Reduces intubation rate</a:t>
            </a:r>
          </a:p>
          <a:p>
            <a:pPr lvl="1">
              <a:defRPr sz="1600"/>
            </a:pPr>
            <a:r>
              <a:t>Reduces mortality</a:t>
            </a:r>
          </a:p>
          <a:p>
            <a:pPr lvl="1">
              <a:defRPr sz="1600"/>
            </a:pPr>
            <a:r>
              <a:t>Reduces hospital LOS</a:t>
            </a:r>
          </a:p>
          <a:p>
            <a:pPr lvl="1">
              <a:defRPr sz="1600"/>
            </a:pPr>
            <a:r>
              <a:t>Allows respiratory muscle rest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Contraindications:</a:t>
            </a:r>
          </a:p>
          <a:p>
            <a:pPr lvl="1">
              <a:defRPr sz="1600"/>
            </a:pPr>
            <a:r>
              <a:t>Respiratory arrest</a:t>
            </a:r>
          </a:p>
          <a:p>
            <a:pPr lvl="1">
              <a:defRPr sz="1600"/>
            </a:pPr>
            <a:r>
              <a:t>Hemodynamic instability</a:t>
            </a:r>
          </a:p>
          <a:p>
            <a:pPr lvl="1">
              <a:defRPr sz="1600"/>
            </a:pPr>
            <a:r>
              <a:t>Inability to protect airway</a:t>
            </a:r>
          </a:p>
          <a:p>
            <a:pPr lvl="1">
              <a:defRPr sz="1600"/>
            </a:pPr>
            <a:r>
              <a:t>Facial trauma/surgery</a:t>
            </a:r>
          </a:p>
          <a:p>
            <a:pPr lvl="1">
              <a:defRPr sz="1600"/>
            </a:pPr>
            <a:r>
              <a:t>Uncooperative patient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NIV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Initial Settings:</a:t>
            </a:r>
          </a:p>
          <a:p>
            <a:pPr lvl="1">
              <a:defRPr sz="1600"/>
            </a:pPr>
            <a:r>
              <a:t>IPAP: 10 cmH2O (titrate to 15-20)</a:t>
            </a:r>
          </a:p>
          <a:p>
            <a:pPr lvl="1">
              <a:defRPr sz="1600"/>
            </a:pPr>
            <a:r>
              <a:t>EPAP: 5 cmH2O (titrate to 8-10)</a:t>
            </a:r>
          </a:p>
          <a:p>
            <a:pPr lvl="1">
              <a:defRPr sz="1600"/>
            </a:pPr>
            <a:r>
              <a:t>Backup rate: 10-12 if timed mode</a:t>
            </a:r>
          </a:p>
          <a:p>
            <a:pPr lvl="1">
              <a:defRPr sz="1600"/>
            </a:pPr>
            <a:r>
              <a:t>FIO2: Titrate to SpO2 88-92%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Interface Selection:</a:t>
            </a:r>
          </a:p>
          <a:p>
            <a:pPr lvl="1">
              <a:defRPr sz="1600"/>
            </a:pPr>
            <a:r>
              <a:t>Full-face mask (preferred initially)</a:t>
            </a:r>
          </a:p>
          <a:p>
            <a:pPr lvl="1">
              <a:defRPr sz="1600"/>
            </a:pPr>
            <a:r>
              <a:t>Nasal mask (if tolerated)</a:t>
            </a:r>
          </a:p>
          <a:p>
            <a:pPr lvl="1">
              <a:defRPr sz="1600"/>
            </a:pPr>
            <a:r>
              <a:t>Proper fit critical for success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Monitoring:</a:t>
            </a:r>
          </a:p>
          <a:p>
            <a:pPr lvl="1">
              <a:defRPr sz="1600"/>
            </a:pPr>
            <a:r>
              <a:t>Vital signs</a:t>
            </a:r>
          </a:p>
          <a:p>
            <a:pPr lvl="1">
              <a:defRPr sz="1600"/>
            </a:pPr>
            <a:r>
              <a:t>ABG at 1-2 hours</a:t>
            </a:r>
          </a:p>
          <a:p>
            <a:pPr lvl="1">
              <a:defRPr sz="1600"/>
            </a:pPr>
            <a:r>
              <a:t>Patient comfort</a:t>
            </a:r>
          </a:p>
          <a:p>
            <a:pPr lvl="1">
              <a:defRPr sz="1600"/>
            </a:pPr>
            <a:r>
              <a:t>Leaks</a:t>
            </a:r>
          </a:p>
          <a:p>
            <a:pPr lvl="1">
              <a:defRPr sz="1600"/>
            </a:pPr>
            <a:r>
              <a:t>Synchrony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Success Criteria:</a:t>
            </a:r>
          </a:p>
          <a:p>
            <a:pPr lvl="1">
              <a:defRPr sz="1600"/>
            </a:pPr>
            <a:r>
              <a:t>pH improvement within 2-4 hours</a:t>
            </a:r>
          </a:p>
          <a:p>
            <a:pPr lvl="1">
              <a:defRPr sz="1600"/>
            </a:pPr>
            <a:r>
              <a:t>Decreased respiratory rate</a:t>
            </a:r>
          </a:p>
          <a:p>
            <a:pPr lvl="1">
              <a:defRPr sz="1600"/>
            </a:pPr>
            <a:r>
              <a:t>Improved mental status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When to Escalate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Indications for ICU Admission:</a:t>
            </a:r>
          </a:p>
          <a:p>
            <a:pPr lvl="1">
              <a:defRPr sz="1600"/>
            </a:pPr>
            <a:r>
              <a:t>Severe dyspnea unresponsive to initial therapy</a:t>
            </a:r>
          </a:p>
          <a:p>
            <a:pPr lvl="1">
              <a:defRPr sz="1600"/>
            </a:pPr>
            <a:r>
              <a:t>Altered mental status</a:t>
            </a:r>
          </a:p>
          <a:p>
            <a:pPr lvl="1">
              <a:defRPr sz="1600"/>
            </a:pPr>
            <a:r>
              <a:t>Persistent/worsening hypoxemia</a:t>
            </a:r>
          </a:p>
          <a:p>
            <a:pPr lvl="1">
              <a:defRPr sz="1600"/>
            </a:pPr>
            <a:r>
              <a:t>Severe acidosis (pH &lt;7.25)</a:t>
            </a:r>
          </a:p>
          <a:p>
            <a:pPr lvl="1">
              <a:defRPr sz="1600"/>
            </a:pPr>
            <a:r>
              <a:t>Hemodynamic instability</a:t>
            </a:r>
          </a:p>
          <a:p>
            <a:pPr lvl="1">
              <a:defRPr sz="1600"/>
            </a:pPr>
            <a:r>
              <a:t>Respiratory arrest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Indications for Intubation:</a:t>
            </a:r>
          </a:p>
          <a:p>
            <a:pPr lvl="1">
              <a:defRPr sz="1600"/>
            </a:pPr>
            <a:r>
              <a:t>NIV failure (no improvement in 1-2 hours)</a:t>
            </a:r>
          </a:p>
          <a:p>
            <a:pPr lvl="1">
              <a:defRPr sz="1600"/>
            </a:pPr>
            <a:r>
              <a:t>Inability to protect airway</a:t>
            </a:r>
          </a:p>
          <a:p>
            <a:pPr lvl="1">
              <a:defRPr sz="1600"/>
            </a:pPr>
            <a:r>
              <a:t>Respiratory arrest</a:t>
            </a:r>
          </a:p>
          <a:p>
            <a:pPr lvl="1">
              <a:defRPr sz="1600"/>
            </a:pPr>
            <a:r>
              <a:t>Severe acidosis with deteriorating mental status</a:t>
            </a:r>
          </a:p>
          <a:p>
            <a:pPr lvl="1">
              <a:defRPr sz="1600"/>
            </a:pPr>
            <a:r>
              <a:t>Cardiac arrest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Patient Education: Self-Management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Action Plan Components:</a:t>
            </a:r>
          </a:p>
          <a:p>
            <a:pPr lvl="1">
              <a:defRPr sz="1600"/>
            </a:pPr>
            <a:r>
              <a:t>1. Green Zone: Doing well - continue routine medications</a:t>
            </a:r>
          </a:p>
          <a:p>
            <a:pPr lvl="1">
              <a:defRPr sz="1600"/>
            </a:pPr>
            <a:r>
              <a:t>2. Yellow Zone: Symptoms worsening - increase bronchodilators, start oral steroids</a:t>
            </a:r>
          </a:p>
          <a:p>
            <a:pPr lvl="1">
              <a:defRPr sz="1600"/>
            </a:pPr>
            <a:r>
              <a:t>3. Red Zone: Severe symptoms - seek emergency care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Key Education Topics:</a:t>
            </a:r>
          </a:p>
          <a:p>
            <a:pPr lvl="1">
              <a:defRPr sz="1600"/>
            </a:pPr>
            <a:r>
              <a:t>Proper inhaler technique</a:t>
            </a:r>
          </a:p>
          <a:p>
            <a:pPr lvl="1">
              <a:defRPr sz="1600"/>
            </a:pPr>
            <a:r>
              <a:t>Medication adherence</a:t>
            </a:r>
          </a:p>
          <a:p>
            <a:pPr lvl="1">
              <a:defRPr sz="1600"/>
            </a:pPr>
            <a:r>
              <a:t>Recognizing early signs of exacerbation</a:t>
            </a:r>
          </a:p>
          <a:p>
            <a:pPr lvl="1">
              <a:defRPr sz="1600"/>
            </a:pPr>
            <a:r>
              <a:t>When to seek help</a:t>
            </a:r>
          </a:p>
          <a:p>
            <a:pPr lvl="1">
              <a:defRPr sz="1600"/>
            </a:pPr>
            <a:r>
              <a:t>Smoking cessation</a:t>
            </a:r>
          </a:p>
          <a:p>
            <a:pPr lvl="1">
              <a:defRPr sz="1600"/>
            </a:pPr>
            <a:r>
              <a:t>Breathing techniques (pursed-lip, diaphragmatic)</a:t>
            </a:r>
          </a:p>
          <a:p>
            <a:pPr lvl="1">
              <a:defRPr sz="1600"/>
            </a:pPr>
            <a:r>
              <a:t>Energy conservation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Patient Education: Inhaler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Common Errors:</a:t>
            </a:r>
          </a:p>
          <a:p>
            <a:pPr lvl="1">
              <a:defRPr sz="1600"/>
            </a:pPr>
            <a:r>
              <a:t>Not shaking MDI</a:t>
            </a:r>
          </a:p>
          <a:p>
            <a:pPr lvl="1">
              <a:defRPr sz="1600"/>
            </a:pPr>
            <a:r>
              <a:t>Poor coordination (MDI)</a:t>
            </a:r>
          </a:p>
          <a:p>
            <a:pPr lvl="1">
              <a:defRPr sz="1600"/>
            </a:pPr>
            <a:r>
              <a:t>Not exhaling fully before inhaling</a:t>
            </a:r>
          </a:p>
          <a:p>
            <a:pPr lvl="1">
              <a:defRPr sz="1600"/>
            </a:pPr>
            <a:r>
              <a:t>Not holding breath after inhalation</a:t>
            </a:r>
          </a:p>
          <a:p>
            <a:pPr lvl="1">
              <a:defRPr sz="1600"/>
            </a:pPr>
            <a:r>
              <a:t>Not rinsing mouth after ICS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Teach-Back Method:</a:t>
            </a:r>
          </a:p>
          <a:p>
            <a:pPr lvl="1">
              <a:defRPr sz="1600"/>
            </a:pPr>
            <a:r>
              <a:t>1. Demonstrate technique</a:t>
            </a:r>
          </a:p>
          <a:p>
            <a:pPr lvl="1">
              <a:defRPr sz="1600"/>
            </a:pPr>
            <a:r>
              <a:t>2. Patient demonstrates back</a:t>
            </a:r>
          </a:p>
          <a:p>
            <a:pPr lvl="1">
              <a:defRPr sz="1600"/>
            </a:pPr>
            <a:r>
              <a:t>3. Correct errors</a:t>
            </a:r>
          </a:p>
          <a:p>
            <a:pPr>
              <a:defRPr sz="1600"/>
            </a:pPr>
            <a:r>
              <a:t>4. Provide written instructions</a:t>
            </a:r>
          </a:p>
          <a:p>
            <a:pPr>
              <a:defRPr sz="1600"/>
            </a:pPr>
            <a:r>
              <a:t>5. Reassess at each visit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Spacer Use:</a:t>
            </a:r>
          </a:p>
          <a:p>
            <a:pPr lvl="1">
              <a:defRPr sz="1600"/>
            </a:pPr>
            <a:r>
              <a:t>Improves drug delivery</a:t>
            </a:r>
          </a:p>
          <a:p>
            <a:pPr lvl="1">
              <a:defRPr sz="1600"/>
            </a:pPr>
            <a:r>
              <a:t>Reduces oropharyngeal deposition</a:t>
            </a:r>
          </a:p>
          <a:p>
            <a:pPr lvl="1">
              <a:defRPr sz="1600"/>
            </a:pPr>
            <a:r>
              <a:t>Essential for MDIs in acute setting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Case Study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Patient: Mr. Johnson, 68-year-old male</a:t>
            </a:r>
          </a:p>
          <a:p>
            <a:pPr lvl="1">
              <a:defRPr sz="1600"/>
            </a:pPr>
            <a:r>
              <a:t>50 pack-year smoking history (quit 2 years ago)</a:t>
            </a:r>
          </a:p>
          <a:p>
            <a:pPr lvl="1">
              <a:defRPr sz="1600"/>
            </a:pPr>
            <a:r>
              <a:t>Diagnosis: COPD GOLD 3</a:t>
            </a:r>
          </a:p>
          <a:p>
            <a:pPr lvl="1">
              <a:defRPr sz="1600"/>
            </a:pPr>
            <a:r>
              <a:t>Current medications: Tiotropium, albuterol PRN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Presentation:</a:t>
            </a:r>
          </a:p>
          <a:p>
            <a:pPr lvl="1">
              <a:defRPr sz="1600"/>
            </a:pPr>
            <a:r>
              <a:t>Increased dyspnea for 3 days</a:t>
            </a:r>
          </a:p>
          <a:p>
            <a:pPr lvl="1">
              <a:defRPr sz="1600"/>
            </a:pPr>
            <a:r>
              <a:t>Increased sputum (yellow)</a:t>
            </a:r>
          </a:p>
          <a:p>
            <a:pPr lvl="1">
              <a:defRPr sz="1600"/>
            </a:pPr>
            <a:r>
              <a:t>Using albuterol every 2 hours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Vital Signs:</a:t>
            </a:r>
          </a:p>
          <a:p>
            <a:pPr lvl="1">
              <a:defRPr sz="1600"/>
            </a:pPr>
            <a:r>
              <a:t>HR: 102, BP: 148/88</a:t>
            </a:r>
          </a:p>
          <a:p>
            <a:pPr lvl="1">
              <a:defRPr sz="1600"/>
            </a:pPr>
            <a:r>
              <a:t>RR: 26, SpO2: 86% on room air</a:t>
            </a:r>
          </a:p>
          <a:p>
            <a:pPr lvl="1">
              <a:defRPr sz="1600"/>
            </a:pPr>
            <a:r>
              <a:t>Afebrile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Questions:</a:t>
            </a:r>
          </a:p>
          <a:p>
            <a:pPr lvl="1">
              <a:defRPr sz="1600"/>
            </a:pPr>
            <a:r>
              <a:t>1. How would you classify this exacerbation?</a:t>
            </a:r>
          </a:p>
          <a:p>
            <a:pPr lvl="1">
              <a:defRPr sz="1600"/>
            </a:pPr>
            <a:r>
              <a:t>2. What is your initial management?</a:t>
            </a:r>
          </a:p>
          <a:p>
            <a:pPr lvl="1">
              <a:defRPr sz="1600"/>
            </a:pPr>
            <a:r>
              <a:t>3. What oxygen saturation target would you use?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Case Study 1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Classification:</a:t>
            </a:r>
          </a:p>
          <a:p>
            <a:pPr lvl="1">
              <a:defRPr sz="1600"/>
            </a:pPr>
            <a:r>
              <a:t>Moderate exacerbation (requires antibiotics and oral steroids)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Initial Management:</a:t>
            </a:r>
          </a:p>
          <a:p>
            <a:pPr lvl="1">
              <a:defRPr sz="1600"/>
            </a:pPr>
            <a:r>
              <a:t>1. Controlled oxygen therapy (target SpO2 88-92%)</a:t>
            </a:r>
          </a:p>
          <a:p>
            <a:pPr lvl="1">
              <a:defRPr sz="1600"/>
            </a:pPr>
            <a:r>
              <a:t>2. Nebulized bronchodilators (albuterol + ipratropium)</a:t>
            </a:r>
          </a:p>
          <a:p>
            <a:pPr lvl="1">
              <a:defRPr sz="1600"/>
            </a:pPr>
            <a:r>
              <a:t>3. Oral corticosteroids (prednisone 40mg daily × 5 days)</a:t>
            </a:r>
          </a:p>
          <a:p>
            <a:pPr>
              <a:defRPr sz="1600"/>
            </a:pPr>
            <a:r>
              <a:t>4. Antibiotics (amoxicillin-clavulanate or doxycycline)</a:t>
            </a:r>
          </a:p>
          <a:p>
            <a:pPr>
              <a:defRPr sz="1600"/>
            </a:pPr>
            <a:r>
              <a:t>5. Consider NIV if acidosis present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Oxygen Target:</a:t>
            </a:r>
          </a:p>
          <a:p>
            <a:pPr lvl="1">
              <a:defRPr sz="1600"/>
            </a:pPr>
            <a:r>
              <a:t>88-92% (COPD with likely CO2 retention)</a:t>
            </a:r>
          </a:p>
          <a:p>
            <a:pPr lvl="1">
              <a:defRPr sz="1600"/>
            </a:pPr>
            <a:r>
              <a:t>Monitor ABG for hypercapnia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Disposition:</a:t>
            </a:r>
          </a:p>
          <a:p>
            <a:pPr lvl="1">
              <a:defRPr sz="1600"/>
            </a:pPr>
            <a:r>
              <a:t>Likely requires hospitalization</a:t>
            </a:r>
          </a:p>
          <a:p>
            <a:pPr lvl="1">
              <a:defRPr sz="1600"/>
            </a:pPr>
            <a:r>
              <a:t>Home if good response to treatment and reliable follow-up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Case Study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Patient: Mrs. Rodriguez, 72-year-old female</a:t>
            </a:r>
          </a:p>
          <a:p>
            <a:pPr lvl="1">
              <a:defRPr sz="1600"/>
            </a:pPr>
            <a:r>
              <a:t>COPD GOLD 4, on home oxygen 2L NC</a:t>
            </a:r>
          </a:p>
          <a:p>
            <a:pPr lvl="1">
              <a:defRPr sz="1600"/>
            </a:pPr>
            <a:r>
              <a:t>Admitted with severe exacerbation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Current Status:</a:t>
            </a:r>
          </a:p>
          <a:p>
            <a:pPr lvl="1">
              <a:defRPr sz="1600"/>
            </a:pPr>
            <a:r>
              <a:t>On 4L NC, SpO2 90%</a:t>
            </a:r>
          </a:p>
          <a:p>
            <a:pPr lvl="1">
              <a:defRPr sz="1600"/>
            </a:pPr>
            <a:r>
              <a:t>RR: 32, using accessory muscles</a:t>
            </a:r>
          </a:p>
          <a:p>
            <a:pPr lvl="1">
              <a:defRPr sz="1600"/>
            </a:pPr>
            <a:r>
              <a:t>Alert but anxious</a:t>
            </a:r>
          </a:p>
          <a:p>
            <a:pPr lvl="1">
              <a:defRPr sz="1600"/>
            </a:pPr>
            <a:r>
              <a:t>ABG: pH 7.28, PaCO2 68, PaO2 58, HCO3 32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Questions:</a:t>
            </a:r>
          </a:p>
          <a:p>
            <a:pPr lvl="1">
              <a:defRPr sz="1600"/>
            </a:pPr>
            <a:r>
              <a:t>1. Interpret the ABG</a:t>
            </a:r>
          </a:p>
          <a:p>
            <a:pPr lvl="1">
              <a:defRPr sz="1600"/>
            </a:pPr>
            <a:r>
              <a:t>2. Is this patient a candidate for NIV?</a:t>
            </a:r>
          </a:p>
          <a:p>
            <a:pPr lvl="1">
              <a:defRPr sz="1600"/>
            </a:pPr>
            <a:r>
              <a:t>3. What NIV settings would you recommend?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Case Study 2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ABG Interpretation:</a:t>
            </a:r>
          </a:p>
          <a:p>
            <a:pPr lvl="1">
              <a:defRPr sz="1600"/>
            </a:pPr>
            <a:r>
              <a:t>pH 7.28 = Acidemia</a:t>
            </a:r>
          </a:p>
          <a:p>
            <a:pPr lvl="1">
              <a:defRPr sz="1600"/>
            </a:pPr>
            <a:r>
              <a:t>PaCO2 68 = Respiratory acidosis</a:t>
            </a:r>
          </a:p>
          <a:p>
            <a:pPr lvl="1">
              <a:defRPr sz="1600"/>
            </a:pPr>
            <a:r>
              <a:t>HCO3 32 = Metabolic compensation (chronic)</a:t>
            </a:r>
          </a:p>
          <a:p>
            <a:pPr lvl="1">
              <a:defRPr sz="1600"/>
            </a:pPr>
            <a:r>
              <a:t>Diagnosis: Acute-on-chronic respiratory acidosis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NIV Candidate:</a:t>
            </a:r>
          </a:p>
          <a:p>
            <a:pPr lvl="1">
              <a:defRPr sz="1600"/>
            </a:pPr>
            <a:r>
              <a:t>YES - meets criteria:</a:t>
            </a:r>
          </a:p>
          <a:p>
            <a:pPr lvl="1">
              <a:defRPr sz="1600"/>
            </a:pPr>
            <a:r>
              <a:t>Acute respiratory acidosis (pH ≤7.35)</a:t>
            </a:r>
          </a:p>
          <a:p>
            <a:pPr lvl="1">
              <a:defRPr sz="1600"/>
            </a:pPr>
            <a:r>
              <a:t>Severe dyspnea</a:t>
            </a:r>
          </a:p>
          <a:p>
            <a:pPr lvl="1">
              <a:defRPr sz="1600"/>
            </a:pPr>
            <a:r>
              <a:t>Persistent hypoxemia</a:t>
            </a:r>
          </a:p>
          <a:p>
            <a:pPr lvl="1">
              <a:defRPr sz="1600"/>
            </a:pPr>
            <a:r>
              <a:t>Alert and cooperative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NIV Settings:</a:t>
            </a:r>
          </a:p>
          <a:p>
            <a:pPr lvl="1">
              <a:defRPr sz="1600"/>
            </a:pPr>
            <a:r>
              <a:t>IPAP: 10 cmH2O (titrate up)</a:t>
            </a:r>
          </a:p>
          <a:p>
            <a:pPr lvl="1">
              <a:defRPr sz="1600"/>
            </a:pPr>
            <a:r>
              <a:t>EPAP: 5 cmH2O</a:t>
            </a:r>
          </a:p>
          <a:p>
            <a:pPr lvl="1">
              <a:defRPr sz="1600"/>
            </a:pPr>
            <a:r>
              <a:t>FIO2: Titrate to SpO2 88-92%</a:t>
            </a:r>
          </a:p>
          <a:p>
            <a:pPr lvl="1">
              <a:defRPr sz="1600"/>
            </a:pPr>
            <a:r>
              <a:t>Full-face mask initially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Monitoring:</a:t>
            </a:r>
          </a:p>
          <a:p>
            <a:pPr lvl="1">
              <a:defRPr sz="1600"/>
            </a:pPr>
            <a:r>
              <a:t>Repeat ABG in 1-2 hours</a:t>
            </a:r>
          </a:p>
          <a:p>
            <a:pPr lvl="1">
              <a:defRPr sz="1600"/>
            </a:pPr>
            <a:r>
              <a:t>Watch for improvement in pH and RR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600"/>
            </a:pPr>
            <a:r>
              <a:t>1. COPD is Preventable and Treatable</a:t>
            </a:r>
          </a:p>
          <a:p>
            <a:pPr lvl="1">
              <a:defRPr sz="1600"/>
            </a:pPr>
            <a:r>
              <a:t>Smoking cessation is the most important intervention</a:t>
            </a:r>
          </a:p>
          <a:p>
            <a:pPr lvl="1">
              <a:defRPr sz="1600"/>
            </a:pPr>
            <a:r>
              <a:t>2. Diagnosis Requires Spirometry</a:t>
            </a:r>
          </a:p>
          <a:p>
            <a:pPr lvl="1">
              <a:defRPr sz="1600"/>
            </a:pPr>
            <a:r>
              <a:t>Post-bronchodilator FEV1/FVC &lt;0.70</a:t>
            </a:r>
          </a:p>
          <a:p>
            <a:pPr lvl="1">
              <a:defRPr sz="1600"/>
            </a:pPr>
            <a:r>
              <a:t>3. Management is Multifaceted</a:t>
            </a:r>
          </a:p>
          <a:p>
            <a:pPr lvl="1">
              <a:defRPr sz="1600"/>
            </a:pPr>
            <a:r>
              <a:t>Pharmacological: Bronchodilators are mainstay</a:t>
            </a:r>
          </a:p>
          <a:p>
            <a:pPr lvl="1">
              <a:defRPr sz="1600"/>
            </a:pPr>
            <a:r>
              <a:t>Non-pharmacological: Rehab, oxygen, vaccines</a:t>
            </a:r>
          </a:p>
          <a:p>
            <a:pPr>
              <a:defRPr sz="1600"/>
            </a:pPr>
            <a:r>
              <a:t>4. Exacerbations Require Prompt Treatment</a:t>
            </a:r>
          </a:p>
          <a:p>
            <a:pPr lvl="1">
              <a:defRPr sz="1600"/>
            </a:pPr>
            <a:r>
              <a:t>Controlled oxygen (88-92%)</a:t>
            </a:r>
          </a:p>
          <a:p>
            <a:pPr lvl="1">
              <a:defRPr sz="1600"/>
            </a:pPr>
            <a:r>
              <a:t>Bronchodilators, steroids, antibiotics</a:t>
            </a:r>
          </a:p>
          <a:p>
            <a:pPr lvl="1">
              <a:defRPr sz="1600"/>
            </a:pPr>
            <a:r>
              <a:t>NIV for respiratory acidosis</a:t>
            </a:r>
          </a:p>
          <a:p>
            <a:pPr>
              <a:defRPr sz="1600"/>
            </a:pPr>
            <a:r>
              <a:t>5. Patient Education is Essential</a:t>
            </a:r>
          </a:p>
          <a:p>
            <a:pPr lvl="1">
              <a:defRPr sz="1600"/>
            </a:pPr>
            <a:r>
              <a:t>Inhaler technique</a:t>
            </a:r>
          </a:p>
          <a:p>
            <a:pPr lvl="1">
              <a:defRPr sz="1600"/>
            </a:pPr>
            <a:r>
              <a:t>Self-management action plans</a:t>
            </a:r>
          </a:p>
          <a:p>
            <a:pPr lvl="1">
              <a:defRPr sz="1600"/>
            </a:pPr>
            <a:r>
              <a:t>Smoking cessation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600"/>
            </a:pPr>
            <a:r>
              <a:t>1. Global Initiative for Chronic Obstructive Lung Disease (GOLD). Global Strategy for the Diagnosis, Management, and Prevention of Chronic Obstructive Pulmonary Disease: 2024 Report.</a:t>
            </a:r>
          </a:p>
          <a:p>
            <a:pPr lvl="1">
              <a:defRPr sz="1600"/>
            </a:pPr>
            <a:r>
              <a:t>2. Celli BR, et al. An Official American Thoracic Society/European Respiratory Society Statement: Research Questions in COPD. Am J Respir Crit Care Med. 2015;191(7):e4-e27.</a:t>
            </a:r>
          </a:p>
          <a:p>
            <a:pPr lvl="1">
              <a:defRPr sz="1600"/>
            </a:pPr>
            <a:r>
              <a:t>3. Nici L, et al. American Thoracic Society/European Respiratory Society Statement on Pulmonary Rehabilitation. Am J Respir Crit Care Med. 2006;173(12):1390-1413.</a:t>
            </a:r>
          </a:p>
          <a:p>
            <a:pPr>
              <a:defRPr sz="1600"/>
            </a:pPr>
            <a:r>
              <a:t>4. Walters JA, et al. Different durations of corticosteroid therapy for exacerbations of chronic obstructive pulmonary disease. Cochrane Database Syst Rev. 2014;(12):CD006897.</a:t>
            </a:r>
          </a:p>
          <a:p>
            <a:pPr>
              <a:defRPr sz="1600"/>
            </a:pPr>
            <a:r>
              <a:t>5. AARC Clinical Practice Guideline: Oxygen Therapy for Adults in the Acute Care Facility. Respir Care. 2022.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Respiratory Care Department</a:t>
            </a:r>
          </a:p>
          <a:p/>
          <a:p>
            <a:r>
              <a:t>Improving Lives Through Better Breathing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